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971e5280434430" /><Relationship Type="http://schemas.openxmlformats.org/officeDocument/2006/relationships/extended-properties" Target="/docProps/app.xml" Id="Ra4ca34e84f7c4682" /><Relationship Type="http://schemas.openxmlformats.org/officeDocument/2006/relationships/officeDocument" Target="/ppt/presentation.xml" Id="R9414257c50634748" /></Relationships>
</file>

<file path=ppt/presentation.xml><?xml version="1.0" encoding="utf-8"?>
<p:presentation xmlns:p="http://schemas.openxmlformats.org/presentationml/2006/main">
  <p:sldMasterIdLst>
    <p:sldMasterId xmlns:r="http://schemas.openxmlformats.org/officeDocument/2006/relationships" id="2147483648" r:id="R90893b75344f4286"/>
  </p:sldMasterIdLst>
  <p:notesMasterIdLst>
    <p:notesMasterId xmlns:r="http://schemas.openxmlformats.org/officeDocument/2006/relationships" r:id="R4a7f7e2ce24147b0"/>
  </p:notesMasterIdLst>
  <p:sldIdLst>
    <p:sldId xmlns:r="http://schemas.openxmlformats.org/officeDocument/2006/relationships" id="256" r:id="R2a9910e75a164113"/>
    <p:sldId xmlns:r="http://schemas.openxmlformats.org/officeDocument/2006/relationships" id="257" r:id="R41f746f55c4d4f0b"/>
    <p:sldId xmlns:r="http://schemas.openxmlformats.org/officeDocument/2006/relationships" id="258" r:id="R6e9a65ef62c04d7d"/>
    <p:sldId xmlns:r="http://schemas.openxmlformats.org/officeDocument/2006/relationships" id="259" r:id="Re3cde6c0d3334b10"/>
    <p:sldId xmlns:r="http://schemas.openxmlformats.org/officeDocument/2006/relationships" id="260" r:id="R83674bb1c21841ff"/>
    <p:sldId xmlns:r="http://schemas.openxmlformats.org/officeDocument/2006/relationships" id="261" r:id="Rdc849e941f2249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232d5136c94917" /><Relationship Type="http://schemas.openxmlformats.org/officeDocument/2006/relationships/slideMaster" Target="/ppt/slideMasters/slideMaster1.xml" Id="R90893b75344f4286" /><Relationship Type="http://schemas.openxmlformats.org/officeDocument/2006/relationships/notesMaster" Target="/ppt/notesMasters/notesMaster1.xml" Id="R4a7f7e2ce24147b0" /><Relationship Type="http://schemas.openxmlformats.org/officeDocument/2006/relationships/presProps" Target="/ppt/presProps.xml" Id="Re1cc370231d34ca6" /><Relationship Type="http://schemas.openxmlformats.org/officeDocument/2006/relationships/tableStyles" Target="/ppt/tableStyles.xml" Id="R6856ab68206b430e" /><Relationship Type="http://schemas.openxmlformats.org/officeDocument/2006/relationships/slide" Target="/ppt/slides/slide1.xml" Id="R2a9910e75a164113" /><Relationship Type="http://schemas.openxmlformats.org/officeDocument/2006/relationships/slide" Target="/ppt/slides/slide2.xml" Id="R41f746f55c4d4f0b" /><Relationship Type="http://schemas.openxmlformats.org/officeDocument/2006/relationships/slide" Target="/ppt/slides/slide3.xml" Id="R6e9a65ef62c04d7d" /><Relationship Type="http://schemas.openxmlformats.org/officeDocument/2006/relationships/slide" Target="/ppt/slides/slide4.xml" Id="Re3cde6c0d3334b10" /><Relationship Type="http://schemas.openxmlformats.org/officeDocument/2006/relationships/slide" Target="/ppt/slides/slide5.xml" Id="R83674bb1c21841ff" /><Relationship Type="http://schemas.openxmlformats.org/officeDocument/2006/relationships/slide" Target="/ppt/slides/slide6.xml" Id="Rdc849e941f2249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9d08eda73541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ingleton Grayscale">
      <a:dk1>
        <a:srgbClr val="191919"/>
      </a:dk1>
      <a:lt1>
        <a:srgbClr val="FFFFFF"/>
      </a:lt1>
      <a:dk2>
        <a:srgbClr val="303030"/>
      </a:dk2>
      <a:lt2>
        <a:srgbClr val="E4E4E4"/>
      </a:lt2>
      <a:accent1>
        <a:srgbClr val="191919"/>
      </a:accent1>
      <a:accent2>
        <a:srgbClr val="676767"/>
      </a:accent2>
      <a:accent3>
        <a:srgbClr val="A5A5A5"/>
      </a:accent3>
      <a:accent4>
        <a:srgbClr val="303030"/>
      </a:accent4>
      <a:accent5>
        <a:srgbClr val="E4E4E4"/>
      </a:accent5>
      <a:accent6>
        <a:srgbClr val="F4F4F4"/>
      </a:accent6>
      <a:hlink>
        <a:srgbClr val="303030"/>
      </a:hlink>
      <a:folHlink>
        <a:srgbClr val="676767"/>
      </a:folHlink>
    </a:clrScheme>
    <a:fontScheme name="Office">
      <a:majorFont>
        <a:latin typeface="Calibri Light"/>
        <a:ea typeface="Calibri Light"/>
        <a:cs typeface="Calibri Light"/>
      </a:majorFont>
      <a:minorFont>
        <a:latin typeface="Calibri"/>
        <a:ea typeface="Calibri"/>
        <a:cs typeface="Calibri"/>
      </a:minorFont>
    </a:fontScheme>
    <a:fmtScheme name="Singleton Graysca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7b5add5f634845" /><Relationship Type="http://schemas.openxmlformats.org/officeDocument/2006/relationships/notesMaster" Target="/ppt/notesMasters/notesMaster1.xml" Id="R7ebbdbcc0b2e49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a4bc4b896b4b34" /><Relationship Type="http://schemas.openxmlformats.org/officeDocument/2006/relationships/notesMaster" Target="/ppt/notesMasters/notesMaster1.xml" Id="R4a51bd84fab04b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49072b27b848aa" /><Relationship Type="http://schemas.openxmlformats.org/officeDocument/2006/relationships/notesMaster" Target="/ppt/notesMasters/notesMaster1.xml" Id="R274103a69d8146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cad750581e4dd5" /><Relationship Type="http://schemas.openxmlformats.org/officeDocument/2006/relationships/notesMaster" Target="/ppt/notesMasters/notesMaster1.xml" Id="R731ba76eb5404b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8b77ef90254e76" /><Relationship Type="http://schemas.openxmlformats.org/officeDocument/2006/relationships/notesMaster" Target="/ppt/notesMasters/notesMaster1.xml" Id="R0473654ee72745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8b15277ac14c12" /><Relationship Type="http://schemas.openxmlformats.org/officeDocument/2006/relationships/notesMaster" Target="/ppt/notesMasters/notesMaster1.xml" Id="R178a18fa12ae40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Imaginem que Polícia, Bombeiros e SAMU atendem a mesma cidade. Agora pensem no que aconteceria se cada órgão trabalhasse com uma central diferente. Um deles poderia saber de um acidente enquanto os outros não receberiam a informação. O padrão Singleton resolve problemas desse tipo quando o sistema realmente precisa de um único objeto compartilhado. Vou mostrar como ele funciona usando uma Central de Alertas.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 controle, cada órgão poderia usar new e criar sua própria central. Assim, cada objeto teria um histórico diferente. A Polícia registraria o acidente em uma central, os Bombeiros consultariam outra, e o SAMU poderia acessar uma terceira. O programa continuaria executando, mas cada parte enxergaria apenas uma parte da verdade. A analogia mostra o requisito principal: todos precisam conversar com a mesma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Singleton é um padrão de criação. Ele garante que uma classe tenha uma única instância e fornece um ponto conhecido para acessar esse objeto. Para isso, a própria classe guarda sua instância, bloqueia a criação externa e oferece o método getInstancia. No exemplo, os órgãos não constroem centrais. Eles apenas pedem à classe a central que já existe. Toda chamada devolve exatamente o mesmo objeto.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código tem três partes importantes. Primeiro, o atributo INSTANCIA é estático. Isso faz com que ele pertença à classe e não a cada objeto. A própria classe cria a única central. Segundo, o construtor é privado. Por isso, outra classe não consegue escrever new CentralDeAlertas. Terceiro, o método público e estático getInstancia devolve a instância guardada. A inicialização usada aqui é antecipada: a JVM cria o objeto quando inicializa a classe. Essa solução é curta e segura para a criação da instância. Depois disso, métodos normais, como registrar, trabalham com o histórico compartilhado.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programa principal, criamos três variáveis: uma para a Polícia, uma para os Bombeiros e outra para o SAMU. Todas chamam getInstancia. Cada órgão registra um alerta. Quando consultamos o histórico por qualquer variável, aparecem as três mensagens. A comparação com dois sinais de igual retorna true, pois as variáveis apontam para o mesmo objeto na memória. Essa é a prova prática do Singleton: acessos diferentes chegam à mesma instância e ao mesmo estado.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Singleton funciona bem quando a unicidade faz parte do problema, como uma configuração da aplicação, um registro central ou um gerenciador de recursos. Ele deve ser evitado quando cada usuário ou contexto precisa do próprio estado. Um carrinho de compras, por exemplo, precisa existir por cliente. O padrão também pode criar dependências globais e dificultar testes. Portanto, a regra final é simples: use Singleton quando o sistema precisa provar que existe uma única instância compartilhada, e não apenas por conveniência.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9a48f92fb640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e6f121d7d2416a" /><Relationship Type="http://schemas.openxmlformats.org/officeDocument/2006/relationships/slideLayout" Target="/ppt/slideLayouts/slideLayout1.xml" Id="Rd2e57d0632b24f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e57d0632b24f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ingleton Grayscale">
      <a:dk1>
        <a:srgbClr val="191919"/>
      </a:dk1>
      <a:lt1>
        <a:srgbClr val="FFFFFF"/>
      </a:lt1>
      <a:dk2>
        <a:srgbClr val="303030"/>
      </a:dk2>
      <a:lt2>
        <a:srgbClr val="E4E4E4"/>
      </a:lt2>
      <a:accent1>
        <a:srgbClr val="191919"/>
      </a:accent1>
      <a:accent2>
        <a:srgbClr val="676767"/>
      </a:accent2>
      <a:accent3>
        <a:srgbClr val="A5A5A5"/>
      </a:accent3>
      <a:accent4>
        <a:srgbClr val="303030"/>
      </a:accent4>
      <a:accent5>
        <a:srgbClr val="E4E4E4"/>
      </a:accent5>
      <a:accent6>
        <a:srgbClr val="F4F4F4"/>
      </a:accent6>
      <a:hlink>
        <a:srgbClr val="303030"/>
      </a:hlink>
      <a:folHlink>
        <a:srgbClr val="676767"/>
      </a:folHlink>
    </a:clrScheme>
    <a:fontScheme name="Office">
      <a:majorFont>
        <a:latin typeface="Calibri Light"/>
        <a:ea typeface="Calibri Light"/>
        <a:cs typeface="Calibri Light"/>
      </a:majorFont>
      <a:minorFont>
        <a:latin typeface="Calibri"/>
        <a:ea typeface="Calibri"/>
        <a:cs typeface="Calibri"/>
      </a:minorFont>
    </a:fontScheme>
    <a:fmtScheme name="Singleton Graysca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76eff4279e46bf" /><Relationship Type="http://schemas.openxmlformats.org/officeDocument/2006/relationships/notesSlide" Target="/ppt/notesSlides/notesSlide1.xml" Id="Recaa67124a0442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408d56f61a4c90" /><Relationship Type="http://schemas.openxmlformats.org/officeDocument/2006/relationships/notesSlide" Target="/ppt/notesSlides/notesSlide2.xml" Id="Re899df272c454c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c118b4b46e4100" /><Relationship Type="http://schemas.openxmlformats.org/officeDocument/2006/relationships/notesSlide" Target="/ppt/notesSlides/notesSlide3.xml" Id="R753349ef84de4a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71ba71ad724360" /><Relationship Type="http://schemas.openxmlformats.org/officeDocument/2006/relationships/notesSlide" Target="/ppt/notesSlides/notesSlide4.xml" Id="R47422e1abe4546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04c1a7c7e240ef" /><Relationship Type="http://schemas.openxmlformats.org/officeDocument/2006/relationships/notesSlide" Target="/ppt/notesSlides/notesSlide5.xml" Id="Rda6175bf3fcd49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5486d0d6bc4438" /><Relationship Type="http://schemas.openxmlformats.org/officeDocument/2006/relationships/notesSlide" Target="/ppt/notesSlides/notesSlide6.xml" Id="R716f4c3e6c9c4ee1" /></Relationships>
</file>

<file path=ppt/slides/slide1.xml><?xml version="1.0" encoding="utf-8"?>
<p:sld xmlns:p="http://schemas.openxmlformats.org/presentationml/2006/main">
  <p:cSld>
    <p:bg>
      <p:bgPr>
        <a:solidFill xmlns:a="http://schemas.openxmlformats.org/drawingml/2006/main">
          <a:srgbClr val="191919"/>
        </a:solidFill>
      </p:bgPr>
    </p:bg>
    <p:spTree>
      <p:nvGrpSpPr>
        <p:cNvPr id="1" name=""/>
        <p:cNvGrpSpPr/>
        <p:nvPr/>
      </p:nvGrpSpPr>
      <p:grpSpPr>
        <a:xfrm xmlns:a="http://schemas.openxmlformats.org/drawingml/2006/main"/>
      </p:grpSpPr>
      <p:sp>
        <p:nvSpPr>
          <p:cNvPr id="8" name="unique-number">
            <a:extLst xmlns:a="http://schemas.openxmlformats.org/drawingml/2006/main">
              <a:ext uri="{FF2B5EF4-FFF2-40B4-BE49-F238E27FC236}">
                <a16:creationId xmlns:a16="http://schemas.microsoft.com/office/drawing/2014/main" id="{7B3F6340-A2E6-4944-BE4A-9F784B0EC2C7}"/>
              </a:ext>
            </a:extLst>
          </p:cNvPr>
          <p:cNvSpPr>
            <a:spLocks xmlns:a="http://schemas.openxmlformats.org/drawingml/2006/main" noGrp="1"/>
          </p:cNvSpPr>
          <p:nvPr/>
        </p:nvSpPr>
        <p:spPr>
          <a:xfrm xmlns:a="http://schemas.openxmlformats.org/drawingml/2006/main">
            <a:off x="8096250" y="342900"/>
            <a:ext cx="34290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0" b="1">
                <a:solidFill>
                  <a:srgbClr val="303030"/>
                </a:solidFill>
                <a:latin typeface="Arial"/>
                <a:ea typeface="Arial"/>
                <a:cs typeface="Arial"/>
              </a:defRPr>
            </a:pPr>
            <a:r>
              <a:rPr sz="22500" b="1">
                <a:solidFill>
                  <a:srgbClr val="303030"/>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7F31402F-2E4A-4C5A-875B-8B7DFACDA8D6}"/>
              </a:ext>
            </a:extLst>
          </p:cNvPr>
          <p:cNvSpPr>
            <a:spLocks xmlns:a="http://schemas.openxmlformats.org/drawingml/2006/main" noGrp="1"/>
          </p:cNvSpPr>
          <p:nvPr/>
        </p:nvSpPr>
        <p:spPr>
          <a:xfrm xmlns:a="http://schemas.openxmlformats.org/drawingml/2006/main">
            <a:off x="723900" y="7810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a:solidFill>
                  <a:srgbClr val="A5A5A5"/>
                </a:solidFill>
                <a:latin typeface="Arial"/>
                <a:ea typeface="Arial"/>
                <a:cs typeface="Arial"/>
              </a:defRPr>
            </a:pPr>
            <a:r>
              <a:rPr sz="1500" b="1">
                <a:solidFill>
                  <a:srgbClr val="A5A5A5"/>
                </a:solidFill>
                <a:latin typeface="Arial"/>
                <a:ea typeface="Arial"/>
                <a:cs typeface="Arial"/>
              </a:rPr>
              <a:t>PADRÃO DE PROJETO</a:t>
            </a:r>
          </a:p>
        </p:txBody>
      </p:sp>
      <p:sp>
        <p:nvSpPr>
          <p:cNvPr id="3" name="cover-title">
            <a:extLst xmlns:a="http://schemas.openxmlformats.org/drawingml/2006/main">
              <a:ext uri="{FF2B5EF4-FFF2-40B4-BE49-F238E27FC236}">
                <a16:creationId xmlns:a16="http://schemas.microsoft.com/office/drawing/2014/main" id="{B08557FD-35B0-4423-9DBF-3871D8122B1C}"/>
              </a:ext>
            </a:extLst>
          </p:cNvPr>
          <p:cNvSpPr>
            <a:spLocks xmlns:a="http://schemas.openxmlformats.org/drawingml/2006/main" noGrp="1"/>
          </p:cNvSpPr>
          <p:nvPr/>
        </p:nvSpPr>
        <p:spPr>
          <a:xfrm xmlns:a="http://schemas.openxmlformats.org/drawingml/2006/main">
            <a:off x="685800" y="1409700"/>
            <a:ext cx="7239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6900" b="1">
                <a:solidFill>
                  <a:srgbClr val="FFFFFF"/>
                </a:solidFill>
                <a:latin typeface="Arial"/>
                <a:ea typeface="Arial"/>
                <a:cs typeface="Arial"/>
              </a:defRPr>
            </a:pPr>
            <a:r>
              <a:rPr sz="6900" b="1">
                <a:solidFill>
                  <a:srgbClr val="FFFFFF"/>
                </a:solidFill>
                <a:latin typeface="Arial"/>
                <a:ea typeface="Arial"/>
                <a:cs typeface="Arial"/>
              </a:rPr>
              <a:t>Singleton</a:t>
            </a:r>
          </a:p>
        </p:txBody>
      </p:sp>
      <p:sp>
        <p:nvSpPr>
          <p:cNvPr id="4" name="">
            <a:extLst xmlns:a="http://schemas.openxmlformats.org/drawingml/2006/main">
              <a:ext uri="{FF2B5EF4-FFF2-40B4-BE49-F238E27FC236}">
                <a16:creationId xmlns:a16="http://schemas.microsoft.com/office/drawing/2014/main" id="{78983853-F417-4AAD-8945-E88B4FC1913C}"/>
              </a:ext>
            </a:extLst>
          </p:cNvPr>
          <p:cNvSpPr>
            <a:spLocks xmlns:a="http://schemas.openxmlformats.org/drawingml/2006/main" noGrp="1"/>
          </p:cNvSpPr>
          <p:nvPr/>
        </p:nvSpPr>
        <p:spPr>
          <a:xfrm xmlns:a="http://schemas.openxmlformats.org/drawingml/2006/main">
            <a:off x="742950" y="2781300"/>
            <a:ext cx="666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625" b="0">
                <a:solidFill>
                  <a:srgbClr val="E4E4E4"/>
                </a:solidFill>
                <a:latin typeface="Arial"/>
                <a:ea typeface="Arial"/>
                <a:cs typeface="Arial"/>
              </a:defRPr>
            </a:pPr>
            <a:r>
              <a:rPr sz="2625" b="0">
                <a:solidFill>
                  <a:srgbClr val="E4E4E4"/>
                </a:solidFill>
                <a:latin typeface="Arial"/>
                <a:ea typeface="Arial"/>
                <a:cs typeface="Arial"/>
              </a:rPr>
              <a:t>Central de Alertas de Emergência</a:t>
            </a:r>
          </a:p>
        </p:txBody>
      </p:sp>
      <p:sp>
        <p:nvSpPr>
          <p:cNvPr id="5" name="">
            <a:extLst xmlns:a="http://schemas.openxmlformats.org/drawingml/2006/main">
              <a:ext uri="{FF2B5EF4-FFF2-40B4-BE49-F238E27FC236}">
                <a16:creationId xmlns:a16="http://schemas.microsoft.com/office/drawing/2014/main" id="{A2FC1345-130E-4948-80E5-827620D61916}"/>
              </a:ext>
            </a:extLst>
          </p:cNvPr>
          <p:cNvSpPr>
            <a:spLocks xmlns:a="http://schemas.openxmlformats.org/drawingml/2006/main" noGrp="1"/>
          </p:cNvSpPr>
          <p:nvPr/>
        </p:nvSpPr>
        <p:spPr>
          <a:xfrm xmlns:a="http://schemas.openxmlformats.org/drawingml/2006/main">
            <a:off x="742950" y="3676650"/>
            <a:ext cx="4191000" cy="0"/>
          </a:xfrm>
          <a:prstGeom xmlns:a="http://schemas.openxmlformats.org/drawingml/2006/main" prst="line">
            <a:avLst/>
          </a:prstGeom>
          <a:noFill xmlns:a="http://schemas.openxmlformats.org/drawingml/2006/main"/>
          <a:ln xmlns:a="http://schemas.openxmlformats.org/drawingml/2006/main" w="28575">
            <a:solidFill>
              <a:srgbClr val="A5A5A5"/>
            </a:solidFill>
            <a:prstDash val="solid"/>
          </a:ln>
        </p:spPr>
      </p:sp>
      <p:sp>
        <p:nvSpPr>
          <p:cNvPr id="6" name="">
            <a:extLst xmlns:a="http://schemas.openxmlformats.org/drawingml/2006/main">
              <a:ext uri="{FF2B5EF4-FFF2-40B4-BE49-F238E27FC236}">
                <a16:creationId xmlns:a16="http://schemas.microsoft.com/office/drawing/2014/main" id="{31D7F385-3E7C-47EE-98FF-D92F820D94E6}"/>
              </a:ext>
            </a:extLst>
          </p:cNvPr>
          <p:cNvSpPr>
            <a:spLocks xmlns:a="http://schemas.openxmlformats.org/drawingml/2006/main" noGrp="1"/>
          </p:cNvSpPr>
          <p:nvPr/>
        </p:nvSpPr>
        <p:spPr>
          <a:xfrm xmlns:a="http://schemas.openxmlformats.org/drawingml/2006/main">
            <a:off x="742950" y="3962400"/>
            <a:ext cx="685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0">
                <a:solidFill>
                  <a:srgbClr val="E4E4E4"/>
                </a:solidFill>
                <a:latin typeface="Arial"/>
                <a:ea typeface="Arial"/>
                <a:cs typeface="Arial"/>
              </a:defRPr>
            </a:pPr>
            <a:r>
              <a:rPr sz="1950" b="0">
                <a:solidFill>
                  <a:srgbClr val="E4E4E4"/>
                </a:solidFill>
                <a:latin typeface="Arial"/>
                <a:ea typeface="Arial"/>
                <a:cs typeface="Arial"/>
              </a:rPr>
              <a:t>Como vários módulos acessam exatamente o mesmo objeto</a:t>
            </a:r>
          </a:p>
        </p:txBody>
      </p:sp>
      <p:sp>
        <p:nvSpPr>
          <p:cNvPr id="7" name="">
            <a:extLst xmlns:a="http://schemas.openxmlformats.org/drawingml/2006/main">
              <a:ext uri="{FF2B5EF4-FFF2-40B4-BE49-F238E27FC236}">
                <a16:creationId xmlns:a16="http://schemas.microsoft.com/office/drawing/2014/main" id="{B4B39C81-0F29-485E-BEDA-0F26C89BDE27}"/>
              </a:ext>
            </a:extLst>
          </p:cNvPr>
          <p:cNvSpPr>
            <a:spLocks xmlns:a="http://schemas.openxmlformats.org/drawingml/2006/main" noGrp="1"/>
          </p:cNvSpPr>
          <p:nvPr/>
        </p:nvSpPr>
        <p:spPr>
          <a:xfrm xmlns:a="http://schemas.openxmlformats.org/drawingml/2006/main">
            <a:off x="742950" y="6000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A5A5A5"/>
                </a:solidFill>
                <a:latin typeface="Arial"/>
                <a:ea typeface="Arial"/>
                <a:cs typeface="Arial"/>
              </a:defRPr>
            </a:pPr>
            <a:r>
              <a:rPr sz="1350" b="0">
                <a:solidFill>
                  <a:srgbClr val="A5A5A5"/>
                </a:solidFill>
                <a:latin typeface="Arial"/>
                <a:ea typeface="Arial"/>
                <a:cs typeface="Arial"/>
              </a:rPr>
              <a:t>Revisão dos Padrões de Projeto</a:t>
            </a:r>
          </a:p>
        </p:txBody>
      </p:sp>
    </p:spTree>
    <p:extLst>
      <p:ext uri="{BB962C8B-B14F-4D97-AF65-F5344CB8AC3E}">
        <p14:creationId xmlns:p14="http://schemas.microsoft.com/office/powerpoint/2010/main" val="16518804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9748C0C3-F725-4D18-AA41-8E1714C3F746}"/>
              </a:ext>
            </a:extLst>
          </p:cNvPr>
          <p:cNvSpPr>
            <a:spLocks xmlns:a="http://schemas.openxmlformats.org/drawingml/2006/main" noGrp="1"/>
          </p:cNvSpPr>
          <p:nvPr/>
        </p:nvSpPr>
        <p:spPr>
          <a:xfrm xmlns:a="http://schemas.openxmlformats.org/drawingml/2006/main">
            <a:off x="685800" y="4381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676767"/>
                </a:solidFill>
                <a:latin typeface="Arial"/>
                <a:ea typeface="Arial"/>
                <a:cs typeface="Arial"/>
              </a:defRPr>
            </a:pPr>
            <a:r>
              <a:rPr sz="1350" b="1">
                <a:solidFill>
                  <a:srgbClr val="676767"/>
                </a:solidFill>
                <a:latin typeface="Arial"/>
                <a:ea typeface="Arial"/>
                <a:cs typeface="Arial"/>
              </a:rPr>
              <a:t>A ANALOGIA</a:t>
            </a:r>
          </a:p>
        </p:txBody>
      </p:sp>
      <p:sp>
        <p:nvSpPr>
          <p:cNvPr id="2" name="slide-title">
            <a:extLst xmlns:a="http://schemas.openxmlformats.org/drawingml/2006/main">
              <a:ext uri="{FF2B5EF4-FFF2-40B4-BE49-F238E27FC236}">
                <a16:creationId xmlns:a16="http://schemas.microsoft.com/office/drawing/2014/main" id="{6AD05669-2889-466C-8F43-507F852F08D8}"/>
              </a:ext>
            </a:extLst>
          </p:cNvPr>
          <p:cNvSpPr>
            <a:spLocks xmlns:a="http://schemas.openxmlformats.org/drawingml/2006/main" noGrp="1"/>
          </p:cNvSpPr>
          <p:nvPr/>
        </p:nvSpPr>
        <p:spPr>
          <a:xfrm xmlns:a="http://schemas.openxmlformats.org/drawingml/2006/main">
            <a:off x="685800" y="7429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750" b="1">
                <a:solidFill>
                  <a:srgbClr val="191919"/>
                </a:solidFill>
                <a:latin typeface="Arial"/>
                <a:ea typeface="Arial"/>
                <a:cs typeface="Arial"/>
              </a:defRPr>
            </a:pPr>
            <a:r>
              <a:rPr sz="3750" b="1">
                <a:solidFill>
                  <a:srgbClr val="191919"/>
                </a:solidFill>
                <a:latin typeface="Arial"/>
                <a:ea typeface="Arial"/>
                <a:cs typeface="Arial"/>
              </a:rPr>
              <a:t>O problema de várias centrais</a:t>
            </a:r>
          </a:p>
        </p:txBody>
      </p:sp>
      <p:sp>
        <p:nvSpPr>
          <p:cNvPr id="3" name="">
            <a:extLst xmlns:a="http://schemas.openxmlformats.org/drawingml/2006/main">
              <a:ext uri="{FF2B5EF4-FFF2-40B4-BE49-F238E27FC236}">
                <a16:creationId xmlns:a16="http://schemas.microsoft.com/office/drawing/2014/main" id="{9A945705-81DA-4658-A59F-4343E8D5002C}"/>
              </a:ext>
            </a:extLst>
          </p:cNvPr>
          <p:cNvSpPr>
            <a:spLocks xmlns:a="http://schemas.openxmlformats.org/drawingml/2006/main" noGrp="1"/>
          </p:cNvSpPr>
          <p:nvPr/>
        </p:nvSpPr>
        <p:spPr>
          <a:xfrm xmlns:a="http://schemas.openxmlformats.org/drawingml/2006/main">
            <a:off x="685800" y="142875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0">
                <a:solidFill>
                  <a:srgbClr val="676767"/>
                </a:solidFill>
                <a:latin typeface="Arial"/>
                <a:ea typeface="Arial"/>
                <a:cs typeface="Arial"/>
              </a:defRPr>
            </a:pPr>
            <a:r>
              <a:rPr sz="1950" b="0">
                <a:solidFill>
                  <a:srgbClr val="676767"/>
                </a:solidFill>
                <a:latin typeface="Arial"/>
                <a:ea typeface="Arial"/>
                <a:cs typeface="Arial"/>
              </a:rPr>
              <a:t>Cada órgão cria uma central com new</a:t>
            </a:r>
          </a:p>
        </p:txBody>
      </p:sp>
      <p:sp>
        <p:nvSpPr>
          <p:cNvPr id="4" name="org-1">
            <a:extLst xmlns:a="http://schemas.openxmlformats.org/drawingml/2006/main">
              <a:ext uri="{FF2B5EF4-FFF2-40B4-BE49-F238E27FC236}">
                <a16:creationId xmlns:a16="http://schemas.microsoft.com/office/drawing/2014/main" id="{3488DFD3-DDD8-4325-A705-48F615FC8140}"/>
              </a:ext>
            </a:extLst>
          </p:cNvPr>
          <p:cNvSpPr>
            <a:spLocks xmlns:a="http://schemas.openxmlformats.org/drawingml/2006/main" noGrp="1"/>
          </p:cNvSpPr>
          <p:nvPr/>
        </p:nvSpPr>
        <p:spPr>
          <a:xfrm xmlns:a="http://schemas.openxmlformats.org/drawingml/2006/main">
            <a:off x="800100" y="2095500"/>
            <a:ext cx="2667000" cy="666750"/>
          </a:xfrm>
          <a:prstGeom xmlns:a="http://schemas.openxmlformats.org/drawingml/2006/main" prst="rect">
            <a:avLst/>
          </a:prstGeom>
          <a:solidFill xmlns:a="http://schemas.openxmlformats.org/drawingml/2006/main">
            <a:srgbClr val="E4E4E4"/>
          </a:solidFill>
          <a:ln xmlns:a="http://schemas.openxmlformats.org/drawingml/2006/main" w="19050">
            <a:solidFill>
              <a:srgbClr val="A5A5A5"/>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0000"/>
              </a:lnSpc>
              <a:buNone/>
              <a:defRPr sz="1800" b="1">
                <a:solidFill>
                  <a:srgbClr val="191919"/>
                </a:solidFill>
                <a:latin typeface="Arial"/>
                <a:ea typeface="Arial"/>
                <a:cs typeface="Arial"/>
              </a:defRPr>
            </a:pPr>
            <a:r>
              <a:rPr sz="1800" b="1">
                <a:solidFill>
                  <a:srgbClr val="191919"/>
                </a:solidFill>
                <a:latin typeface="Arial"/>
                <a:ea typeface="Arial"/>
                <a:cs typeface="Arial"/>
              </a:rPr>
              <a:t>POLÍCIA</a:t>
            </a:r>
          </a:p>
        </p:txBody>
      </p:sp>
      <p:sp>
        <p:nvSpPr>
          <p:cNvPr id="5" name="separate-center-1">
            <a:extLst xmlns:a="http://schemas.openxmlformats.org/drawingml/2006/main">
              <a:ext uri="{FF2B5EF4-FFF2-40B4-BE49-F238E27FC236}">
                <a16:creationId xmlns:a16="http://schemas.microsoft.com/office/drawing/2014/main" id="{773CE0A6-CF08-440D-ABBF-87DF505A5EB4}"/>
              </a:ext>
            </a:extLst>
          </p:cNvPr>
          <p:cNvSpPr>
            <a:spLocks xmlns:a="http://schemas.openxmlformats.org/drawingml/2006/main" noGrp="1"/>
          </p:cNvSpPr>
          <p:nvPr/>
        </p:nvSpPr>
        <p:spPr>
          <a:xfrm xmlns:a="http://schemas.openxmlformats.org/drawingml/2006/main">
            <a:off x="800100" y="3429000"/>
            <a:ext cx="2667000" cy="1162050"/>
          </a:xfrm>
          <a:prstGeom xmlns:a="http://schemas.openxmlformats.org/drawingml/2006/main" prst="rect">
            <a:avLst/>
          </a:prstGeom>
          <a:solidFill xmlns:a="http://schemas.openxmlformats.org/drawingml/2006/main">
            <a:srgbClr val="F4F4F4"/>
          </a:solidFill>
          <a:ln xmlns:a="http://schemas.openxmlformats.org/drawingml/2006/main" w="19050">
            <a:solidFill>
              <a:srgbClr val="303030"/>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0000"/>
              </a:lnSpc>
              <a:buNone/>
              <a:defRPr sz="1800" b="1">
                <a:solidFill>
                  <a:srgbClr val="191919"/>
                </a:solidFill>
                <a:latin typeface="Arial"/>
                <a:ea typeface="Arial"/>
                <a:cs typeface="Arial"/>
              </a:defRPr>
            </a:pPr>
            <a:r>
              <a:rPr sz="1800" b="1">
                <a:solidFill>
                  <a:srgbClr val="191919"/>
                </a:solidFill>
                <a:latin typeface="Arial"/>
                <a:ea typeface="Arial"/>
                <a:cs typeface="Arial"/>
              </a:rPr>
              <a:t>Central A</a:t>
            </a:r>
          </a:p>
          <a:p xmlns:a="http://schemas.openxmlformats.org/drawingml/2006/main">
            <a:pPr algn="ctr">
              <a:lnSpc>
                <a:spcPct val="100000"/>
              </a:lnSpc>
              <a:buNone/>
              <a:defRPr sz="1800" b="1">
                <a:solidFill>
                  <a:srgbClr val="191919"/>
                </a:solidFill>
                <a:latin typeface="Arial"/>
                <a:ea typeface="Arial"/>
                <a:cs typeface="Arial"/>
              </a:defRPr>
            </a:pPr>
            <a:r>
              <a:rPr sz="1800" b="1">
                <a:solidFill>
                  <a:srgbClr val="191919"/>
                </a:solidFill>
                <a:latin typeface="Arial"/>
                <a:ea typeface="Arial"/>
                <a:cs typeface="Arial"/>
              </a:rPr>
              <a:t>acidente</a:t>
            </a:r>
          </a:p>
        </p:txBody>
      </p:sp>
      <p:cxnSp>
        <p:nvCxnSpPr>
          <p:cNvPr id="20" name=""/>
          <p:cNvCxnSpPr>
            <a:stCxn xmlns:a="http://schemas.openxmlformats.org/drawingml/2006/main" id="4" idx="2"/>
            <a:endCxn xmlns:a="http://schemas.openxmlformats.org/drawingml/2006/main" id="5" idx="0"/>
          </p:cNvCxnSpPr>
          <p:nvPr/>
        </p:nvCxnSpPr>
        <p:spPr>
          <a:xfrm xmlns:a="http://schemas.openxmlformats.org/drawingml/2006/main">
            <a:off x="2133600" y="2762250"/>
            <a:ext cx="0" cy="666750"/>
          </a:xfrm>
          <a:prstGeom xmlns:a="http://schemas.openxmlformats.org/drawingml/2006/main" prst="straightConnector1">
            <a:avLst/>
          </a:prstGeom>
          <a:ln xmlns:a="http://schemas.openxmlformats.org/drawingml/2006/main" w="28575">
            <a:solidFill>
              <a:srgbClr val="676767"/>
            </a:solidFill>
            <a:prstDash val="solid"/>
            <a:tailEnd type="triangle" w="sm" len="sm"/>
          </a:ln>
        </p:spPr>
      </p:cxnSp>
      <p:sp>
        <p:nvSpPr>
          <p:cNvPr id="7" name="org-2">
            <a:extLst xmlns:a="http://schemas.openxmlformats.org/drawingml/2006/main">
              <a:ext uri="{FF2B5EF4-FFF2-40B4-BE49-F238E27FC236}">
                <a16:creationId xmlns:a16="http://schemas.microsoft.com/office/drawing/2014/main" id="{C12B983F-A20E-4202-AA45-9CEBD45A4B84}"/>
              </a:ext>
            </a:extLst>
          </p:cNvPr>
          <p:cNvSpPr>
            <a:spLocks xmlns:a="http://schemas.openxmlformats.org/drawingml/2006/main" noGrp="1"/>
          </p:cNvSpPr>
          <p:nvPr/>
        </p:nvSpPr>
        <p:spPr>
          <a:xfrm xmlns:a="http://schemas.openxmlformats.org/drawingml/2006/main">
            <a:off x="4286250" y="2095500"/>
            <a:ext cx="2667000" cy="666750"/>
          </a:xfrm>
          <a:prstGeom xmlns:a="http://schemas.openxmlformats.org/drawingml/2006/main" prst="rect">
            <a:avLst/>
          </a:prstGeom>
          <a:solidFill xmlns:a="http://schemas.openxmlformats.org/drawingml/2006/main">
            <a:srgbClr val="E4E4E4"/>
          </a:solidFill>
          <a:ln xmlns:a="http://schemas.openxmlformats.org/drawingml/2006/main" w="19050">
            <a:solidFill>
              <a:srgbClr val="A5A5A5"/>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0000"/>
              </a:lnSpc>
              <a:buNone/>
              <a:defRPr sz="1800" b="1">
                <a:solidFill>
                  <a:srgbClr val="191919"/>
                </a:solidFill>
                <a:latin typeface="Arial"/>
                <a:ea typeface="Arial"/>
                <a:cs typeface="Arial"/>
              </a:defRPr>
            </a:pPr>
            <a:r>
              <a:rPr sz="1800" b="1">
                <a:solidFill>
                  <a:srgbClr val="191919"/>
                </a:solidFill>
                <a:latin typeface="Arial"/>
                <a:ea typeface="Arial"/>
                <a:cs typeface="Arial"/>
              </a:rPr>
              <a:t>BOMBEIROS</a:t>
            </a:r>
          </a:p>
        </p:txBody>
      </p:sp>
      <p:sp>
        <p:nvSpPr>
          <p:cNvPr id="8" name="separate-center-2">
            <a:extLst xmlns:a="http://schemas.openxmlformats.org/drawingml/2006/main">
              <a:ext uri="{FF2B5EF4-FFF2-40B4-BE49-F238E27FC236}">
                <a16:creationId xmlns:a16="http://schemas.microsoft.com/office/drawing/2014/main" id="{0389A806-073F-4AD7-BB1B-564D5B758F42}"/>
              </a:ext>
            </a:extLst>
          </p:cNvPr>
          <p:cNvSpPr>
            <a:spLocks xmlns:a="http://schemas.openxmlformats.org/drawingml/2006/main" noGrp="1"/>
          </p:cNvSpPr>
          <p:nvPr/>
        </p:nvSpPr>
        <p:spPr>
          <a:xfrm xmlns:a="http://schemas.openxmlformats.org/drawingml/2006/main">
            <a:off x="4286250" y="3429000"/>
            <a:ext cx="2667000" cy="1162050"/>
          </a:xfrm>
          <a:prstGeom xmlns:a="http://schemas.openxmlformats.org/drawingml/2006/main" prst="rect">
            <a:avLst/>
          </a:prstGeom>
          <a:solidFill xmlns:a="http://schemas.openxmlformats.org/drawingml/2006/main">
            <a:srgbClr val="F4F4F4"/>
          </a:solidFill>
          <a:ln xmlns:a="http://schemas.openxmlformats.org/drawingml/2006/main" w="19050">
            <a:solidFill>
              <a:srgbClr val="303030"/>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0000"/>
              </a:lnSpc>
              <a:buNone/>
              <a:defRPr sz="1800" b="1">
                <a:solidFill>
                  <a:srgbClr val="191919"/>
                </a:solidFill>
                <a:latin typeface="Arial"/>
                <a:ea typeface="Arial"/>
                <a:cs typeface="Arial"/>
              </a:defRPr>
            </a:pPr>
            <a:r>
              <a:rPr sz="1800" b="1">
                <a:solidFill>
                  <a:srgbClr val="191919"/>
                </a:solidFill>
                <a:latin typeface="Arial"/>
                <a:ea typeface="Arial"/>
                <a:cs typeface="Arial"/>
              </a:rPr>
              <a:t>Central B</a:t>
            </a:r>
          </a:p>
          <a:p xmlns:a="http://schemas.openxmlformats.org/drawingml/2006/main">
            <a:pPr algn="ctr">
              <a:lnSpc>
                <a:spcPct val="100000"/>
              </a:lnSpc>
              <a:buNone/>
              <a:defRPr sz="1800" b="1">
                <a:solidFill>
                  <a:srgbClr val="191919"/>
                </a:solidFill>
                <a:latin typeface="Arial"/>
                <a:ea typeface="Arial"/>
                <a:cs typeface="Arial"/>
              </a:defRPr>
            </a:pPr>
            <a:r>
              <a:rPr sz="1800" b="1">
                <a:solidFill>
                  <a:srgbClr val="191919"/>
                </a:solidFill>
                <a:latin typeface="Arial"/>
                <a:ea typeface="Arial"/>
                <a:cs typeface="Arial"/>
              </a:rPr>
              <a:t>incêndio</a:t>
            </a:r>
          </a:p>
        </p:txBody>
      </p:sp>
      <p:cxnSp>
        <p:nvCxnSpPr>
          <p:cNvPr id="23" name=""/>
          <p:cNvCxnSpPr>
            <a:stCxn xmlns:a="http://schemas.openxmlformats.org/drawingml/2006/main" id="7" idx="2"/>
            <a:endCxn xmlns:a="http://schemas.openxmlformats.org/drawingml/2006/main" id="8" idx="0"/>
          </p:cNvCxnSpPr>
          <p:nvPr/>
        </p:nvCxnSpPr>
        <p:spPr>
          <a:xfrm xmlns:a="http://schemas.openxmlformats.org/drawingml/2006/main">
            <a:off x="5619750" y="2762250"/>
            <a:ext cx="0" cy="666750"/>
          </a:xfrm>
          <a:prstGeom xmlns:a="http://schemas.openxmlformats.org/drawingml/2006/main" prst="straightConnector1">
            <a:avLst/>
          </a:prstGeom>
          <a:ln xmlns:a="http://schemas.openxmlformats.org/drawingml/2006/main" w="28575">
            <a:solidFill>
              <a:srgbClr val="676767"/>
            </a:solidFill>
            <a:prstDash val="solid"/>
            <a:tailEnd type="triangle" w="sm" len="sm"/>
          </a:ln>
        </p:spPr>
      </p:cxnSp>
      <p:sp>
        <p:nvSpPr>
          <p:cNvPr id="10" name="org-3">
            <a:extLst xmlns:a="http://schemas.openxmlformats.org/drawingml/2006/main">
              <a:ext uri="{FF2B5EF4-FFF2-40B4-BE49-F238E27FC236}">
                <a16:creationId xmlns:a16="http://schemas.microsoft.com/office/drawing/2014/main" id="{8A4A9E57-3554-46D1-86D5-A7311EA32267}"/>
              </a:ext>
            </a:extLst>
          </p:cNvPr>
          <p:cNvSpPr>
            <a:spLocks xmlns:a="http://schemas.openxmlformats.org/drawingml/2006/main" noGrp="1"/>
          </p:cNvSpPr>
          <p:nvPr/>
        </p:nvSpPr>
        <p:spPr>
          <a:xfrm xmlns:a="http://schemas.openxmlformats.org/drawingml/2006/main">
            <a:off x="7772400" y="2095500"/>
            <a:ext cx="2667000" cy="666750"/>
          </a:xfrm>
          <a:prstGeom xmlns:a="http://schemas.openxmlformats.org/drawingml/2006/main" prst="rect">
            <a:avLst/>
          </a:prstGeom>
          <a:solidFill xmlns:a="http://schemas.openxmlformats.org/drawingml/2006/main">
            <a:srgbClr val="E4E4E4"/>
          </a:solidFill>
          <a:ln xmlns:a="http://schemas.openxmlformats.org/drawingml/2006/main" w="19050">
            <a:solidFill>
              <a:srgbClr val="A5A5A5"/>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0000"/>
              </a:lnSpc>
              <a:buNone/>
              <a:defRPr sz="1800" b="1">
                <a:solidFill>
                  <a:srgbClr val="191919"/>
                </a:solidFill>
                <a:latin typeface="Arial"/>
                <a:ea typeface="Arial"/>
                <a:cs typeface="Arial"/>
              </a:defRPr>
            </a:pPr>
            <a:r>
              <a:rPr sz="1800" b="1">
                <a:solidFill>
                  <a:srgbClr val="191919"/>
                </a:solidFill>
                <a:latin typeface="Arial"/>
                <a:ea typeface="Arial"/>
                <a:cs typeface="Arial"/>
              </a:rPr>
              <a:t>SAMU</a:t>
            </a:r>
          </a:p>
        </p:txBody>
      </p:sp>
      <p:sp>
        <p:nvSpPr>
          <p:cNvPr id="11" name="separate-center-3">
            <a:extLst xmlns:a="http://schemas.openxmlformats.org/drawingml/2006/main">
              <a:ext uri="{FF2B5EF4-FFF2-40B4-BE49-F238E27FC236}">
                <a16:creationId xmlns:a16="http://schemas.microsoft.com/office/drawing/2014/main" id="{5841EBD6-07A0-4042-BBA2-30560D67EA7E}"/>
              </a:ext>
            </a:extLst>
          </p:cNvPr>
          <p:cNvSpPr>
            <a:spLocks xmlns:a="http://schemas.openxmlformats.org/drawingml/2006/main" noGrp="1"/>
          </p:cNvSpPr>
          <p:nvPr/>
        </p:nvSpPr>
        <p:spPr>
          <a:xfrm xmlns:a="http://schemas.openxmlformats.org/drawingml/2006/main">
            <a:off x="7772400" y="3429000"/>
            <a:ext cx="2667000" cy="1162050"/>
          </a:xfrm>
          <a:prstGeom xmlns:a="http://schemas.openxmlformats.org/drawingml/2006/main" prst="rect">
            <a:avLst/>
          </a:prstGeom>
          <a:solidFill xmlns:a="http://schemas.openxmlformats.org/drawingml/2006/main">
            <a:srgbClr val="F4F4F4"/>
          </a:solidFill>
          <a:ln xmlns:a="http://schemas.openxmlformats.org/drawingml/2006/main" w="19050">
            <a:solidFill>
              <a:srgbClr val="303030"/>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0000"/>
              </a:lnSpc>
              <a:buNone/>
              <a:defRPr sz="1800" b="1">
                <a:solidFill>
                  <a:srgbClr val="191919"/>
                </a:solidFill>
                <a:latin typeface="Arial"/>
                <a:ea typeface="Arial"/>
                <a:cs typeface="Arial"/>
              </a:defRPr>
            </a:pPr>
            <a:r>
              <a:rPr sz="1800" b="1">
                <a:solidFill>
                  <a:srgbClr val="191919"/>
                </a:solidFill>
                <a:latin typeface="Arial"/>
                <a:ea typeface="Arial"/>
                <a:cs typeface="Arial"/>
              </a:rPr>
              <a:t>Central C</a:t>
            </a:r>
          </a:p>
          <a:p xmlns:a="http://schemas.openxmlformats.org/drawingml/2006/main">
            <a:pPr algn="ctr">
              <a:lnSpc>
                <a:spcPct val="100000"/>
              </a:lnSpc>
              <a:buNone/>
              <a:defRPr sz="1800" b="1">
                <a:solidFill>
                  <a:srgbClr val="191919"/>
                </a:solidFill>
                <a:latin typeface="Arial"/>
                <a:ea typeface="Arial"/>
                <a:cs typeface="Arial"/>
              </a:defRPr>
            </a:pPr>
            <a:r>
              <a:rPr sz="1800" b="1">
                <a:solidFill>
                  <a:srgbClr val="191919"/>
                </a:solidFill>
                <a:latin typeface="Arial"/>
                <a:ea typeface="Arial"/>
                <a:cs typeface="Arial"/>
              </a:rPr>
              <a:t>ambulância</a:t>
            </a:r>
          </a:p>
        </p:txBody>
      </p:sp>
      <p:cxnSp>
        <p:nvCxnSpPr>
          <p:cNvPr id="26" name=""/>
          <p:cNvCxnSpPr>
            <a:stCxn xmlns:a="http://schemas.openxmlformats.org/drawingml/2006/main" id="10" idx="2"/>
            <a:endCxn xmlns:a="http://schemas.openxmlformats.org/drawingml/2006/main" id="11" idx="0"/>
          </p:cNvCxnSpPr>
          <p:nvPr/>
        </p:nvCxnSpPr>
        <p:spPr>
          <a:xfrm xmlns:a="http://schemas.openxmlformats.org/drawingml/2006/main">
            <a:off x="9105900" y="2762250"/>
            <a:ext cx="0" cy="666750"/>
          </a:xfrm>
          <a:prstGeom xmlns:a="http://schemas.openxmlformats.org/drawingml/2006/main" prst="straightConnector1">
            <a:avLst/>
          </a:prstGeom>
          <a:ln xmlns:a="http://schemas.openxmlformats.org/drawingml/2006/main" w="28575">
            <a:solidFill>
              <a:srgbClr val="676767"/>
            </a:solidFill>
            <a:prstDash val="solid"/>
            <a:tailEnd type="triangle" w="sm" len="sm"/>
          </a:ln>
        </p:spPr>
      </p:cxnSp>
      <p:sp>
        <p:nvSpPr>
          <p:cNvPr id="13" name="">
            <a:extLst xmlns:a="http://schemas.openxmlformats.org/drawingml/2006/main">
              <a:ext uri="{FF2B5EF4-FFF2-40B4-BE49-F238E27FC236}">
                <a16:creationId xmlns:a16="http://schemas.microsoft.com/office/drawing/2014/main" id="{3D661E7E-BE96-4118-8018-3D8CC96BBB7A}"/>
              </a:ext>
            </a:extLst>
          </p:cNvPr>
          <p:cNvSpPr>
            <a:spLocks xmlns:a="http://schemas.openxmlformats.org/drawingml/2006/main" noGrp="1"/>
          </p:cNvSpPr>
          <p:nvPr/>
        </p:nvSpPr>
        <p:spPr>
          <a:xfrm xmlns:a="http://schemas.openxmlformats.org/drawingml/2006/main">
            <a:off x="1257300" y="5276850"/>
            <a:ext cx="967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325" b="1">
                <a:solidFill>
                  <a:srgbClr val="191919"/>
                </a:solidFill>
                <a:latin typeface="Arial"/>
                <a:ea typeface="Arial"/>
                <a:cs typeface="Arial"/>
              </a:defRPr>
            </a:pPr>
            <a:r>
              <a:rPr sz="2325" b="1">
                <a:solidFill>
                  <a:srgbClr val="191919"/>
                </a:solidFill>
                <a:latin typeface="Arial"/>
                <a:ea typeface="Arial"/>
                <a:cs typeface="Arial"/>
              </a:rPr>
              <a:t>Resultado: três históricos diferentes e nenhuma visão completa</a:t>
            </a:r>
          </a:p>
        </p:txBody>
      </p:sp>
      <p:sp>
        <p:nvSpPr>
          <p:cNvPr id="14" name="">
            <a:extLst xmlns:a="http://schemas.openxmlformats.org/drawingml/2006/main">
              <a:ext uri="{FF2B5EF4-FFF2-40B4-BE49-F238E27FC236}">
                <a16:creationId xmlns:a16="http://schemas.microsoft.com/office/drawing/2014/main" id="{D29BCDD9-E067-4B38-8306-CBBD36788404}"/>
              </a:ext>
            </a:extLst>
          </p:cNvPr>
          <p:cNvSpPr>
            <a:spLocks xmlns:a="http://schemas.openxmlformats.org/drawingml/2006/main" noGrp="1"/>
          </p:cNvSpPr>
          <p:nvPr/>
        </p:nvSpPr>
        <p:spPr>
          <a:xfrm xmlns:a="http://schemas.openxmlformats.org/drawingml/2006/main">
            <a:off x="1657350" y="5905500"/>
            <a:ext cx="887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0">
                <a:solidFill>
                  <a:srgbClr val="676767"/>
                </a:solidFill>
                <a:latin typeface="Arial"/>
                <a:ea typeface="Arial"/>
                <a:cs typeface="Arial"/>
              </a:defRPr>
            </a:pPr>
            <a:r>
              <a:rPr sz="1650" b="0">
                <a:solidFill>
                  <a:srgbClr val="676767"/>
                </a:solidFill>
                <a:latin typeface="Arial"/>
                <a:ea typeface="Arial"/>
                <a:cs typeface="Arial"/>
              </a:rPr>
              <a:t>O sistema executa, mas os órgãos trabalham com informações desencontradas.</a:t>
            </a:r>
          </a:p>
        </p:txBody>
      </p:sp>
    </p:spTree>
    <p:extLst>
      <p:ext uri="{BB962C8B-B14F-4D97-AF65-F5344CB8AC3E}">
        <p14:creationId xmlns:p14="http://schemas.microsoft.com/office/powerpoint/2010/main" val="8403579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yebrow">
            <a:extLst xmlns:a="http://schemas.openxmlformats.org/drawingml/2006/main">
              <a:ext uri="{FF2B5EF4-FFF2-40B4-BE49-F238E27FC236}">
                <a16:creationId xmlns:a16="http://schemas.microsoft.com/office/drawing/2014/main" id="{4F3CC047-5A38-4801-AA3A-744C5BA89D03}"/>
              </a:ext>
            </a:extLst>
          </p:cNvPr>
          <p:cNvSpPr>
            <a:spLocks xmlns:a="http://schemas.openxmlformats.org/drawingml/2006/main" noGrp="1"/>
          </p:cNvSpPr>
          <p:nvPr/>
        </p:nvSpPr>
        <p:spPr>
          <a:xfrm xmlns:a="http://schemas.openxmlformats.org/drawingml/2006/main">
            <a:off x="685800" y="4381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676767"/>
                </a:solidFill>
                <a:latin typeface="Arial"/>
                <a:ea typeface="Arial"/>
                <a:cs typeface="Arial"/>
              </a:defRPr>
            </a:pPr>
            <a:r>
              <a:rPr sz="1350" b="1">
                <a:solidFill>
                  <a:srgbClr val="676767"/>
                </a:solidFill>
                <a:latin typeface="Arial"/>
                <a:ea typeface="Arial"/>
                <a:cs typeface="Arial"/>
              </a:rPr>
              <a:t>DEFINIÇÃO</a:t>
            </a:r>
          </a:p>
        </p:txBody>
      </p:sp>
      <p:sp>
        <p:nvSpPr>
          <p:cNvPr id="2" name="slide-title">
            <a:extLst xmlns:a="http://schemas.openxmlformats.org/drawingml/2006/main">
              <a:ext uri="{FF2B5EF4-FFF2-40B4-BE49-F238E27FC236}">
                <a16:creationId xmlns:a16="http://schemas.microsoft.com/office/drawing/2014/main" id="{F50377FE-2E84-4EB2-B4ED-5EA9DC416A5B}"/>
              </a:ext>
            </a:extLst>
          </p:cNvPr>
          <p:cNvSpPr>
            <a:spLocks xmlns:a="http://schemas.openxmlformats.org/drawingml/2006/main" noGrp="1"/>
          </p:cNvSpPr>
          <p:nvPr/>
        </p:nvSpPr>
        <p:spPr>
          <a:xfrm xmlns:a="http://schemas.openxmlformats.org/drawingml/2006/main">
            <a:off x="685800" y="7429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750" b="1">
                <a:solidFill>
                  <a:srgbClr val="191919"/>
                </a:solidFill>
                <a:latin typeface="Arial"/>
                <a:ea typeface="Arial"/>
                <a:cs typeface="Arial"/>
              </a:defRPr>
            </a:pPr>
            <a:r>
              <a:rPr sz="3750" b="1">
                <a:solidFill>
                  <a:srgbClr val="191919"/>
                </a:solidFill>
                <a:latin typeface="Arial"/>
                <a:ea typeface="Arial"/>
                <a:cs typeface="Arial"/>
              </a:rPr>
              <a:t>A ideia do Singleton</a:t>
            </a:r>
          </a:p>
        </p:txBody>
      </p:sp>
      <p:sp>
        <p:nvSpPr>
          <p:cNvPr id="3" name="">
            <a:extLst xmlns:a="http://schemas.openxmlformats.org/drawingml/2006/main">
              <a:ext uri="{FF2B5EF4-FFF2-40B4-BE49-F238E27FC236}">
                <a16:creationId xmlns:a16="http://schemas.microsoft.com/office/drawing/2014/main" id="{8683F1B8-DDB2-44BC-8D81-DCD0BCEBAC7C}"/>
              </a:ext>
            </a:extLst>
          </p:cNvPr>
          <p:cNvSpPr>
            <a:spLocks xmlns:a="http://schemas.openxmlformats.org/drawingml/2006/main" noGrp="1"/>
          </p:cNvSpPr>
          <p:nvPr/>
        </p:nvSpPr>
        <p:spPr>
          <a:xfrm xmlns:a="http://schemas.openxmlformats.org/drawingml/2006/main">
            <a:off x="628650" y="1428750"/>
            <a:ext cx="2647950" cy="331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9500" b="1">
                <a:solidFill>
                  <a:srgbClr val="191919"/>
                </a:solidFill>
                <a:latin typeface="Arial"/>
                <a:ea typeface="Arial"/>
                <a:cs typeface="Arial"/>
              </a:defRPr>
            </a:pPr>
            <a:r>
              <a:rPr sz="19500" b="1">
                <a:solidFill>
                  <a:srgbClr val="191919"/>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16FD0663-05D7-463E-B93D-9EB0538BE36F}"/>
              </a:ext>
            </a:extLst>
          </p:cNvPr>
          <p:cNvSpPr>
            <a:spLocks xmlns:a="http://schemas.openxmlformats.org/drawingml/2006/main" noGrp="1"/>
          </p:cNvSpPr>
          <p:nvPr/>
        </p:nvSpPr>
        <p:spPr>
          <a:xfrm xmlns:a="http://schemas.openxmlformats.org/drawingml/2006/main">
            <a:off x="685800" y="4810125"/>
            <a:ext cx="257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250" b="1">
                <a:solidFill>
                  <a:srgbClr val="676767"/>
                </a:solidFill>
                <a:latin typeface="Arial"/>
                <a:ea typeface="Arial"/>
                <a:cs typeface="Arial"/>
              </a:defRPr>
            </a:pPr>
            <a:r>
              <a:rPr sz="2250" b="1">
                <a:solidFill>
                  <a:srgbClr val="676767"/>
                </a:solidFill>
                <a:latin typeface="Arial"/>
                <a:ea typeface="Arial"/>
                <a:cs typeface="Arial"/>
              </a:rPr>
              <a:t>uma única</a:t>
            </a:r>
          </a:p>
          <a:p xmlns:a="http://schemas.openxmlformats.org/drawingml/2006/main">
            <a:pPr algn="ctr">
              <a:lnSpc>
                <a:spcPct val="105000"/>
              </a:lnSpc>
              <a:buNone/>
              <a:defRPr sz="2250" b="1">
                <a:solidFill>
                  <a:srgbClr val="676767"/>
                </a:solidFill>
                <a:latin typeface="Arial"/>
                <a:ea typeface="Arial"/>
                <a:cs typeface="Arial"/>
              </a:defRPr>
            </a:pPr>
            <a:r>
              <a:rPr sz="2250" b="1">
                <a:solidFill>
                  <a:srgbClr val="676767"/>
                </a:solidFill>
                <a:latin typeface="Arial"/>
                <a:ea typeface="Arial"/>
                <a:cs typeface="Arial"/>
              </a:rPr>
              <a:t>instância</a:t>
            </a:r>
          </a:p>
        </p:txBody>
      </p:sp>
      <p:sp>
        <p:nvSpPr>
          <p:cNvPr id="5" name="">
            <a:extLst xmlns:a="http://schemas.openxmlformats.org/drawingml/2006/main">
              <a:ext uri="{FF2B5EF4-FFF2-40B4-BE49-F238E27FC236}">
                <a16:creationId xmlns:a16="http://schemas.microsoft.com/office/drawing/2014/main" id="{E4DCBAA0-ADF3-4CF4-B56C-6EC266DFB445}"/>
              </a:ext>
            </a:extLst>
          </p:cNvPr>
          <p:cNvSpPr>
            <a:spLocks xmlns:a="http://schemas.openxmlformats.org/drawingml/2006/main" noGrp="1"/>
          </p:cNvSpPr>
          <p:nvPr/>
        </p:nvSpPr>
        <p:spPr>
          <a:xfrm xmlns:a="http://schemas.openxmlformats.org/drawingml/2006/main">
            <a:off x="3619500" y="1619250"/>
            <a:ext cx="0" cy="3905250"/>
          </a:xfrm>
          <a:prstGeom xmlns:a="http://schemas.openxmlformats.org/drawingml/2006/main" prst="line">
            <a:avLst/>
          </a:prstGeom>
          <a:noFill xmlns:a="http://schemas.openxmlformats.org/drawingml/2006/main"/>
          <a:ln xmlns:a="http://schemas.openxmlformats.org/drawingml/2006/main" w="28575">
            <a:solidFill>
              <a:srgbClr val="E4E4E4"/>
            </a:solidFill>
            <a:prstDash val="solid"/>
          </a:ln>
        </p:spPr>
      </p:sp>
      <p:sp>
        <p:nvSpPr>
          <p:cNvPr id="6" name="">
            <a:extLst xmlns:a="http://schemas.openxmlformats.org/drawingml/2006/main">
              <a:ext uri="{FF2B5EF4-FFF2-40B4-BE49-F238E27FC236}">
                <a16:creationId xmlns:a16="http://schemas.microsoft.com/office/drawing/2014/main" id="{6D431906-9F56-455F-8BE4-CD81868869B9}"/>
              </a:ext>
            </a:extLst>
          </p:cNvPr>
          <p:cNvSpPr>
            <a:spLocks xmlns:a="http://schemas.openxmlformats.org/drawingml/2006/main" noGrp="1"/>
          </p:cNvSpPr>
          <p:nvPr/>
        </p:nvSpPr>
        <p:spPr>
          <a:xfrm xmlns:a="http://schemas.openxmlformats.org/drawingml/2006/main">
            <a:off x="4095750" y="1581150"/>
            <a:ext cx="695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191919"/>
                </a:solidFill>
                <a:latin typeface="Arial"/>
                <a:ea typeface="Arial"/>
                <a:cs typeface="Arial"/>
              </a:defRPr>
            </a:pPr>
            <a:r>
              <a:rPr sz="2550" b="1">
                <a:solidFill>
                  <a:srgbClr val="191919"/>
                </a:solidFill>
                <a:latin typeface="Arial"/>
                <a:ea typeface="Arial"/>
                <a:cs typeface="Arial"/>
              </a:rPr>
              <a:t>A própria classe controla a criação e devolve sempre o mesmo objeto.</a:t>
            </a:r>
          </a:p>
        </p:txBody>
      </p:sp>
      <p:sp>
        <p:nvSpPr>
          <p:cNvPr id="7" name="">
            <a:extLst xmlns:a="http://schemas.openxmlformats.org/drawingml/2006/main">
              <a:ext uri="{FF2B5EF4-FFF2-40B4-BE49-F238E27FC236}">
                <a16:creationId xmlns:a16="http://schemas.microsoft.com/office/drawing/2014/main" id="{EFBF011B-049F-4EB7-ABB0-42124A14E7D8}"/>
              </a:ext>
            </a:extLst>
          </p:cNvPr>
          <p:cNvSpPr>
            <a:spLocks xmlns:a="http://schemas.openxmlformats.org/drawingml/2006/main" noGrp="1"/>
          </p:cNvSpPr>
          <p:nvPr/>
        </p:nvSpPr>
        <p:spPr>
          <a:xfrm xmlns:a="http://schemas.openxmlformats.org/drawingml/2006/main">
            <a:off x="4114800" y="28956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191919"/>
                </a:solidFill>
                <a:latin typeface="Courier New"/>
                <a:ea typeface="Courier New"/>
                <a:cs typeface="Courier New"/>
              </a:defRPr>
            </a:pPr>
            <a:r>
              <a:rPr sz="2175" b="1">
                <a:solidFill>
                  <a:srgbClr val="191919"/>
                </a:solidFill>
                <a:latin typeface="Courier New"/>
                <a:ea typeface="Courier New"/>
                <a:cs typeface="Courier New"/>
              </a:rPr>
              <a:t>static</a:t>
            </a:r>
          </a:p>
        </p:txBody>
      </p:sp>
      <p:sp>
        <p:nvSpPr>
          <p:cNvPr id="8" name="">
            <a:extLst xmlns:a="http://schemas.openxmlformats.org/drawingml/2006/main">
              <a:ext uri="{FF2B5EF4-FFF2-40B4-BE49-F238E27FC236}">
                <a16:creationId xmlns:a16="http://schemas.microsoft.com/office/drawing/2014/main" id="{A7D43513-B43E-49A4-90D0-C7E0E855BD55}"/>
              </a:ext>
            </a:extLst>
          </p:cNvPr>
          <p:cNvSpPr>
            <a:spLocks xmlns:a="http://schemas.openxmlformats.org/drawingml/2006/main" noGrp="1"/>
          </p:cNvSpPr>
          <p:nvPr/>
        </p:nvSpPr>
        <p:spPr>
          <a:xfrm xmlns:a="http://schemas.openxmlformats.org/drawingml/2006/main">
            <a:off x="6667500" y="29146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0">
                <a:solidFill>
                  <a:srgbClr val="676767"/>
                </a:solidFill>
                <a:latin typeface="Arial"/>
                <a:ea typeface="Arial"/>
                <a:cs typeface="Arial"/>
              </a:defRPr>
            </a:pPr>
            <a:r>
              <a:rPr sz="1950" b="0">
                <a:solidFill>
                  <a:srgbClr val="676767"/>
                </a:solidFill>
                <a:latin typeface="Arial"/>
                <a:ea typeface="Arial"/>
                <a:cs typeface="Arial"/>
              </a:rPr>
              <a:t>guarda a instância na classe</a:t>
            </a:r>
          </a:p>
        </p:txBody>
      </p:sp>
      <p:sp>
        <p:nvSpPr>
          <p:cNvPr id="9" name="">
            <a:extLst xmlns:a="http://schemas.openxmlformats.org/drawingml/2006/main">
              <a:ext uri="{FF2B5EF4-FFF2-40B4-BE49-F238E27FC236}">
                <a16:creationId xmlns:a16="http://schemas.microsoft.com/office/drawing/2014/main" id="{EDE82EB7-CC66-435B-8021-06C21E6858D1}"/>
              </a:ext>
            </a:extLst>
          </p:cNvPr>
          <p:cNvSpPr>
            <a:spLocks xmlns:a="http://schemas.openxmlformats.org/drawingml/2006/main" noGrp="1"/>
          </p:cNvSpPr>
          <p:nvPr/>
        </p:nvSpPr>
        <p:spPr>
          <a:xfrm xmlns:a="http://schemas.openxmlformats.org/drawingml/2006/main">
            <a:off x="4114800" y="37719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191919"/>
                </a:solidFill>
                <a:latin typeface="Courier New"/>
                <a:ea typeface="Courier New"/>
                <a:cs typeface="Courier New"/>
              </a:defRPr>
            </a:pPr>
            <a:r>
              <a:rPr sz="2175" b="1">
                <a:solidFill>
                  <a:srgbClr val="191919"/>
                </a:solidFill>
                <a:latin typeface="Courier New"/>
                <a:ea typeface="Courier New"/>
                <a:cs typeface="Courier New"/>
              </a:rPr>
              <a:t>private</a:t>
            </a:r>
          </a:p>
        </p:txBody>
      </p:sp>
      <p:sp>
        <p:nvSpPr>
          <p:cNvPr id="10" name="">
            <a:extLst xmlns:a="http://schemas.openxmlformats.org/drawingml/2006/main">
              <a:ext uri="{FF2B5EF4-FFF2-40B4-BE49-F238E27FC236}">
                <a16:creationId xmlns:a16="http://schemas.microsoft.com/office/drawing/2014/main" id="{D8B69A3F-C00C-4593-B3F2-DEB288B96F3B}"/>
              </a:ext>
            </a:extLst>
          </p:cNvPr>
          <p:cNvSpPr>
            <a:spLocks xmlns:a="http://schemas.openxmlformats.org/drawingml/2006/main" noGrp="1"/>
          </p:cNvSpPr>
          <p:nvPr/>
        </p:nvSpPr>
        <p:spPr>
          <a:xfrm xmlns:a="http://schemas.openxmlformats.org/drawingml/2006/main">
            <a:off x="6667500" y="37909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0">
                <a:solidFill>
                  <a:srgbClr val="676767"/>
                </a:solidFill>
                <a:latin typeface="Arial"/>
                <a:ea typeface="Arial"/>
                <a:cs typeface="Arial"/>
              </a:defRPr>
            </a:pPr>
            <a:r>
              <a:rPr sz="1950" b="0">
                <a:solidFill>
                  <a:srgbClr val="676767"/>
                </a:solidFill>
                <a:latin typeface="Arial"/>
                <a:ea typeface="Arial"/>
                <a:cs typeface="Arial"/>
              </a:rPr>
              <a:t>impede novas instâncias fora da classe</a:t>
            </a:r>
          </a:p>
        </p:txBody>
      </p:sp>
      <p:sp>
        <p:nvSpPr>
          <p:cNvPr id="11" name="">
            <a:extLst xmlns:a="http://schemas.openxmlformats.org/drawingml/2006/main">
              <a:ext uri="{FF2B5EF4-FFF2-40B4-BE49-F238E27FC236}">
                <a16:creationId xmlns:a16="http://schemas.microsoft.com/office/drawing/2014/main" id="{08983570-E336-41AA-A356-0AE12D32962E}"/>
              </a:ext>
            </a:extLst>
          </p:cNvPr>
          <p:cNvSpPr>
            <a:spLocks xmlns:a="http://schemas.openxmlformats.org/drawingml/2006/main" noGrp="1"/>
          </p:cNvSpPr>
          <p:nvPr/>
        </p:nvSpPr>
        <p:spPr>
          <a:xfrm xmlns:a="http://schemas.openxmlformats.org/drawingml/2006/main">
            <a:off x="4114800" y="46482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191919"/>
                </a:solidFill>
                <a:latin typeface="Courier New"/>
                <a:ea typeface="Courier New"/>
                <a:cs typeface="Courier New"/>
              </a:defRPr>
            </a:pPr>
            <a:r>
              <a:rPr sz="2175" b="1">
                <a:solidFill>
                  <a:srgbClr val="191919"/>
                </a:solidFill>
                <a:latin typeface="Courier New"/>
                <a:ea typeface="Courier New"/>
                <a:cs typeface="Courier New"/>
              </a:rPr>
              <a:t>getInstancia()</a:t>
            </a:r>
          </a:p>
        </p:txBody>
      </p:sp>
      <p:sp>
        <p:nvSpPr>
          <p:cNvPr id="12" name="">
            <a:extLst xmlns:a="http://schemas.openxmlformats.org/drawingml/2006/main">
              <a:ext uri="{FF2B5EF4-FFF2-40B4-BE49-F238E27FC236}">
                <a16:creationId xmlns:a16="http://schemas.microsoft.com/office/drawing/2014/main" id="{3F991824-BEE3-4360-B757-F03C120FDB54}"/>
              </a:ext>
            </a:extLst>
          </p:cNvPr>
          <p:cNvSpPr>
            <a:spLocks xmlns:a="http://schemas.openxmlformats.org/drawingml/2006/main" noGrp="1"/>
          </p:cNvSpPr>
          <p:nvPr/>
        </p:nvSpPr>
        <p:spPr>
          <a:xfrm xmlns:a="http://schemas.openxmlformats.org/drawingml/2006/main">
            <a:off x="6667500" y="46672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0">
                <a:solidFill>
                  <a:srgbClr val="676767"/>
                </a:solidFill>
                <a:latin typeface="Arial"/>
                <a:ea typeface="Arial"/>
                <a:cs typeface="Arial"/>
              </a:defRPr>
            </a:pPr>
            <a:r>
              <a:rPr sz="1950" b="0">
                <a:solidFill>
                  <a:srgbClr val="676767"/>
                </a:solidFill>
                <a:latin typeface="Arial"/>
                <a:ea typeface="Arial"/>
                <a:cs typeface="Arial"/>
              </a:rPr>
              <a:t>oferece o acesso controlado</a:t>
            </a:r>
          </a:p>
        </p:txBody>
      </p:sp>
      <p:sp>
        <p:nvSpPr>
          <p:cNvPr id="13" name="">
            <a:extLst xmlns:a="http://schemas.openxmlformats.org/drawingml/2006/main">
              <a:ext uri="{FF2B5EF4-FFF2-40B4-BE49-F238E27FC236}">
                <a16:creationId xmlns:a16="http://schemas.microsoft.com/office/drawing/2014/main" id="{5776A6E2-BCBB-4748-9106-5496DA84BB3F}"/>
              </a:ext>
            </a:extLst>
          </p:cNvPr>
          <p:cNvSpPr>
            <a:spLocks xmlns:a="http://schemas.openxmlformats.org/drawingml/2006/main" noGrp="1"/>
          </p:cNvSpPr>
          <p:nvPr/>
        </p:nvSpPr>
        <p:spPr>
          <a:xfrm xmlns:a="http://schemas.openxmlformats.org/drawingml/2006/main">
            <a:off x="4095750" y="58293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a:solidFill>
                  <a:srgbClr val="676767"/>
                </a:solidFill>
                <a:latin typeface="Arial"/>
                <a:ea typeface="Arial"/>
                <a:cs typeface="Arial"/>
              </a:defRPr>
            </a:pPr>
            <a:r>
              <a:rPr sz="1575" b="1">
                <a:solidFill>
                  <a:srgbClr val="676767"/>
                </a:solidFill>
                <a:latin typeface="Arial"/>
                <a:ea typeface="Arial"/>
                <a:cs typeface="Arial"/>
              </a:rPr>
              <a:t>Categoria: padrão criacional</a:t>
            </a:r>
          </a:p>
        </p:txBody>
      </p:sp>
    </p:spTree>
    <p:extLst>
      <p:ext uri="{BB962C8B-B14F-4D97-AF65-F5344CB8AC3E}">
        <p14:creationId xmlns:p14="http://schemas.microsoft.com/office/powerpoint/2010/main" val="10999467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1F224810-C78F-401C-8D85-5DEA2DF94479}"/>
              </a:ext>
            </a:extLst>
          </p:cNvPr>
          <p:cNvSpPr>
            <a:spLocks xmlns:a="http://schemas.openxmlformats.org/drawingml/2006/main" noGrp="1"/>
          </p:cNvSpPr>
          <p:nvPr/>
        </p:nvSpPr>
        <p:spPr>
          <a:xfrm xmlns:a="http://schemas.openxmlformats.org/drawingml/2006/main">
            <a:off x="685800" y="4381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676767"/>
                </a:solidFill>
                <a:latin typeface="Arial"/>
                <a:ea typeface="Arial"/>
                <a:cs typeface="Arial"/>
              </a:defRPr>
            </a:pPr>
            <a:r>
              <a:rPr sz="1350" b="1">
                <a:solidFill>
                  <a:srgbClr val="676767"/>
                </a:solidFill>
                <a:latin typeface="Arial"/>
                <a:ea typeface="Arial"/>
                <a:cs typeface="Arial"/>
              </a:rPr>
              <a:t>CÓDIGO ESSENCIAL</a:t>
            </a:r>
          </a:p>
        </p:txBody>
      </p:sp>
      <p:sp>
        <p:nvSpPr>
          <p:cNvPr id="2" name="slide-title">
            <a:extLst xmlns:a="http://schemas.openxmlformats.org/drawingml/2006/main">
              <a:ext uri="{FF2B5EF4-FFF2-40B4-BE49-F238E27FC236}">
                <a16:creationId xmlns:a16="http://schemas.microsoft.com/office/drawing/2014/main" id="{D3292BE5-9626-4DF7-A712-F1AA11592D66}"/>
              </a:ext>
            </a:extLst>
          </p:cNvPr>
          <p:cNvSpPr>
            <a:spLocks xmlns:a="http://schemas.openxmlformats.org/drawingml/2006/main" noGrp="1"/>
          </p:cNvSpPr>
          <p:nvPr/>
        </p:nvSpPr>
        <p:spPr>
          <a:xfrm xmlns:a="http://schemas.openxmlformats.org/drawingml/2006/main">
            <a:off x="685800" y="7429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750" b="1">
                <a:solidFill>
                  <a:srgbClr val="191919"/>
                </a:solidFill>
                <a:latin typeface="Arial"/>
                <a:ea typeface="Arial"/>
                <a:cs typeface="Arial"/>
              </a:defRPr>
            </a:pPr>
            <a:r>
              <a:rPr sz="3750" b="1">
                <a:solidFill>
                  <a:srgbClr val="191919"/>
                </a:solidFill>
                <a:latin typeface="Arial"/>
                <a:ea typeface="Arial"/>
                <a:cs typeface="Arial"/>
              </a:rPr>
              <a:t>A estrutura em Java</a:t>
            </a:r>
          </a:p>
        </p:txBody>
      </p:sp>
      <p:sp>
        <p:nvSpPr>
          <p:cNvPr id="3" name="java-code">
            <a:extLst xmlns:a="http://schemas.openxmlformats.org/drawingml/2006/main">
              <a:ext uri="{FF2B5EF4-FFF2-40B4-BE49-F238E27FC236}">
                <a16:creationId xmlns:a16="http://schemas.microsoft.com/office/drawing/2014/main" id="{01769289-2231-4166-A15B-714585AAFA22}"/>
              </a:ext>
            </a:extLst>
          </p:cNvPr>
          <p:cNvSpPr>
            <a:spLocks xmlns:a="http://schemas.openxmlformats.org/drawingml/2006/main" noGrp="1"/>
          </p:cNvSpPr>
          <p:nvPr/>
        </p:nvSpPr>
        <p:spPr>
          <a:xfrm xmlns:a="http://schemas.openxmlformats.org/drawingml/2006/main">
            <a:off x="685800" y="1600200"/>
            <a:ext cx="7239000" cy="4171950"/>
          </a:xfrm>
          <a:prstGeom xmlns:a="http://schemas.openxmlformats.org/drawingml/2006/main" prst="rect">
            <a:avLst/>
          </a:prstGeom>
          <a:solidFill xmlns:a="http://schemas.openxmlformats.org/drawingml/2006/main">
            <a:srgbClr val="F4F4F4"/>
          </a:solidFill>
          <a:ln xmlns:a="http://schemas.openxmlformats.org/drawingml/2006/main" w="19050">
            <a:solidFill>
              <a:srgbClr val="A5A5A5"/>
            </a:solidFill>
            <a:prstDash val="solid"/>
          </a:ln>
        </p:spPr>
        <p:txBody>
          <a:bodyPr xmlns:a="http://schemas.openxmlformats.org/drawingml/2006/main" lIns="285750" tIns="247650" rIns="228600" bIns="228600" anchor="ctr">
            <a:noAutofit/>
          </a:bodyPr>
          <a:lstStyle xmlns:a="http://schemas.openxmlformats.org/drawingml/2006/main"/>
          <a:p xmlns:a="http://schemas.openxmlformats.org/drawingml/2006/main">
            <a:pPr>
              <a:lnSpc>
                <a:spcPct val="106000"/>
              </a:lnSpc>
              <a:buNone/>
              <a:defRPr sz="1800">
                <a:solidFill>
                  <a:srgbClr val="191919"/>
                </a:solidFill>
                <a:latin typeface="Courier New"/>
                <a:ea typeface="Courier New"/>
                <a:cs typeface="Courier New"/>
              </a:defRPr>
            </a:pPr>
            <a:r>
              <a:rPr sz="1800" b="1">
                <a:solidFill>
                  <a:srgbClr val="191919"/>
                </a:solidFill>
                <a:latin typeface="Courier New"/>
                <a:ea typeface="Courier New"/>
                <a:cs typeface="Courier New"/>
              </a:rPr>
              <a:t>private static final</a:t>
            </a:r>
            <a:r>
              <a:rPr sz="1800">
                <a:solidFill>
                  <a:srgbClr val="191919"/>
                </a:solidFill>
                <a:latin typeface="Courier New"/>
                <a:ea typeface="Courier New"/>
                <a:cs typeface="Courier New"/>
              </a:rPr>
              <a:t> CentralDeAlertas INSTANCIA =</a:t>
            </a:r>
          </a:p>
          <a:p xmlns:a="http://schemas.openxmlformats.org/drawingml/2006/main">
            <a:pPr>
              <a:lnSpc>
                <a:spcPct val="106000"/>
              </a:lnSpc>
              <a:buNone/>
              <a:defRPr sz="1800">
                <a:solidFill>
                  <a:srgbClr val="191919"/>
                </a:solidFill>
                <a:latin typeface="Courier New"/>
                <a:ea typeface="Courier New"/>
                <a:cs typeface="Courier New"/>
              </a:defRPr>
            </a:pPr>
            <a:r>
              <a:rPr sz="1800">
                <a:solidFill>
                  <a:srgbClr val="191919"/>
                </a:solidFill>
                <a:latin typeface="Courier New"/>
                <a:ea typeface="Courier New"/>
                <a:cs typeface="Courier New"/>
              </a:rPr>
              <a:t>    new CentralDeAlertas();</a:t>
            </a:r>
          </a:p>
          <a:p xmlns:a="http://schemas.openxmlformats.org/drawingml/2006/main">
            <a:r>
              <a:t/>
            </a:r>
          </a:p>
          <a:p xmlns:a="http://schemas.openxmlformats.org/drawingml/2006/main">
            <a:pPr>
              <a:lnSpc>
                <a:spcPct val="106000"/>
              </a:lnSpc>
              <a:buNone/>
              <a:defRPr sz="1800">
                <a:solidFill>
                  <a:srgbClr val="191919"/>
                </a:solidFill>
                <a:latin typeface="Courier New"/>
                <a:ea typeface="Courier New"/>
                <a:cs typeface="Courier New"/>
              </a:defRPr>
            </a:pPr>
            <a:r>
              <a:rPr sz="1800" b="1">
                <a:solidFill>
                  <a:srgbClr val="191919"/>
                </a:solidFill>
                <a:latin typeface="Courier New"/>
                <a:ea typeface="Courier New"/>
                <a:cs typeface="Courier New"/>
              </a:rPr>
              <a:t>private</a:t>
            </a:r>
            <a:r>
              <a:rPr sz="1800">
                <a:solidFill>
                  <a:srgbClr val="191919"/>
                </a:solidFill>
                <a:latin typeface="Courier New"/>
                <a:ea typeface="Courier New"/>
                <a:cs typeface="Courier New"/>
              </a:rPr>
              <a:t> CentralDeAlertas() { }</a:t>
            </a:r>
          </a:p>
          <a:p xmlns:a="http://schemas.openxmlformats.org/drawingml/2006/main">
            <a:r>
              <a:t/>
            </a:r>
          </a:p>
          <a:p xmlns:a="http://schemas.openxmlformats.org/drawingml/2006/main">
            <a:pPr>
              <a:lnSpc>
                <a:spcPct val="106000"/>
              </a:lnSpc>
              <a:buNone/>
              <a:defRPr sz="1800">
                <a:solidFill>
                  <a:srgbClr val="191919"/>
                </a:solidFill>
                <a:latin typeface="Courier New"/>
                <a:ea typeface="Courier New"/>
                <a:cs typeface="Courier New"/>
              </a:defRPr>
            </a:pPr>
            <a:r>
              <a:rPr sz="1800" b="1">
                <a:solidFill>
                  <a:srgbClr val="191919"/>
                </a:solidFill>
                <a:latin typeface="Courier New"/>
                <a:ea typeface="Courier New"/>
                <a:cs typeface="Courier New"/>
              </a:rPr>
              <a:t>public static</a:t>
            </a:r>
            <a:r>
              <a:rPr sz="1800">
                <a:solidFill>
                  <a:srgbClr val="191919"/>
                </a:solidFill>
                <a:latin typeface="Courier New"/>
                <a:ea typeface="Courier New"/>
                <a:cs typeface="Courier New"/>
              </a:rPr>
              <a:t> CentralDeAlertas </a:t>
            </a:r>
            <a:r>
              <a:rPr sz="1800" b="1">
                <a:solidFill>
                  <a:srgbClr val="191919"/>
                </a:solidFill>
                <a:latin typeface="Courier New"/>
                <a:ea typeface="Courier New"/>
                <a:cs typeface="Courier New"/>
              </a:rPr>
              <a:t>getInstancia()</a:t>
            </a:r>
            <a:r>
              <a:rPr sz="1800">
                <a:solidFill>
                  <a:srgbClr val="191919"/>
                </a:solidFill>
                <a:latin typeface="Courier New"/>
                <a:ea typeface="Courier New"/>
                <a:cs typeface="Courier New"/>
              </a:rPr>
              <a:t> {</a:t>
            </a:r>
          </a:p>
          <a:p xmlns:a="http://schemas.openxmlformats.org/drawingml/2006/main">
            <a:pPr>
              <a:lnSpc>
                <a:spcPct val="106000"/>
              </a:lnSpc>
              <a:buNone/>
              <a:defRPr sz="1800">
                <a:solidFill>
                  <a:srgbClr val="191919"/>
                </a:solidFill>
                <a:latin typeface="Courier New"/>
                <a:ea typeface="Courier New"/>
                <a:cs typeface="Courier New"/>
              </a:defRPr>
            </a:pPr>
            <a:r>
              <a:rPr sz="1800">
                <a:solidFill>
                  <a:srgbClr val="191919"/>
                </a:solidFill>
                <a:latin typeface="Courier New"/>
                <a:ea typeface="Courier New"/>
                <a:cs typeface="Courier New"/>
              </a:rPr>
              <a:t>    return INSTANCIA;</a:t>
            </a:r>
          </a:p>
          <a:p xmlns:a="http://schemas.openxmlformats.org/drawingml/2006/main">
            <a:pPr>
              <a:lnSpc>
                <a:spcPct val="106000"/>
              </a:lnSpc>
              <a:buNone/>
              <a:defRPr sz="1800">
                <a:solidFill>
                  <a:srgbClr val="191919"/>
                </a:solidFill>
                <a:latin typeface="Courier New"/>
                <a:ea typeface="Courier New"/>
                <a:cs typeface="Courier New"/>
              </a:defRPr>
            </a:pPr>
            <a:r>
              <a:rPr sz="1800">
                <a:solidFill>
                  <a:srgbClr val="191919"/>
                </a:solidFill>
                <a:latin typeface="Courier New"/>
                <a:ea typeface="Courier New"/>
                <a:cs typeface="Courier New"/>
              </a:rPr>
              <a:t>}</a:t>
            </a:r>
          </a:p>
        </p:txBody>
      </p:sp>
      <p:sp>
        <p:nvSpPr>
          <p:cNvPr id="4" name="">
            <a:extLst xmlns:a="http://schemas.openxmlformats.org/drawingml/2006/main">
              <a:ext uri="{FF2B5EF4-FFF2-40B4-BE49-F238E27FC236}">
                <a16:creationId xmlns:a16="http://schemas.microsoft.com/office/drawing/2014/main" id="{ED5F93AE-F9E9-47AB-94B9-978BE59730D7}"/>
              </a:ext>
            </a:extLst>
          </p:cNvPr>
          <p:cNvSpPr>
            <a:spLocks xmlns:a="http://schemas.openxmlformats.org/drawingml/2006/main" noGrp="1"/>
          </p:cNvSpPr>
          <p:nvPr/>
        </p:nvSpPr>
        <p:spPr>
          <a:xfrm xmlns:a="http://schemas.openxmlformats.org/drawingml/2006/main">
            <a:off x="8439150" y="16954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3000" b="1">
                <a:solidFill>
                  <a:srgbClr val="191919"/>
                </a:solidFill>
                <a:latin typeface="Arial"/>
                <a:ea typeface="Arial"/>
                <a:cs typeface="Arial"/>
              </a:defRPr>
            </a:pPr>
            <a:r>
              <a:rPr sz="3000" b="1">
                <a:solidFill>
                  <a:srgbClr val="191919"/>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95D570E-6501-4916-8304-67F2253DBAB2}"/>
              </a:ext>
            </a:extLst>
          </p:cNvPr>
          <p:cNvSpPr>
            <a:spLocks xmlns:a="http://schemas.openxmlformats.org/drawingml/2006/main" noGrp="1"/>
          </p:cNvSpPr>
          <p:nvPr/>
        </p:nvSpPr>
        <p:spPr>
          <a:xfrm xmlns:a="http://schemas.openxmlformats.org/drawingml/2006/main">
            <a:off x="9124950" y="171450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76767"/>
                </a:solidFill>
                <a:latin typeface="Arial"/>
                <a:ea typeface="Arial"/>
                <a:cs typeface="Arial"/>
              </a:defRPr>
            </a:pPr>
            <a:r>
              <a:rPr sz="1800" b="0">
                <a:solidFill>
                  <a:srgbClr val="676767"/>
                </a:solidFill>
                <a:latin typeface="Arial"/>
                <a:ea typeface="Arial"/>
                <a:cs typeface="Arial"/>
              </a:rPr>
              <a:t>A classe cria e guarda a instância</a:t>
            </a:r>
          </a:p>
        </p:txBody>
      </p:sp>
      <p:sp>
        <p:nvSpPr>
          <p:cNvPr id="6" name="">
            <a:extLst xmlns:a="http://schemas.openxmlformats.org/drawingml/2006/main">
              <a:ext uri="{FF2B5EF4-FFF2-40B4-BE49-F238E27FC236}">
                <a16:creationId xmlns:a16="http://schemas.microsoft.com/office/drawing/2014/main" id="{B9C2765D-261C-4001-B367-A3FD7D1954C4}"/>
              </a:ext>
            </a:extLst>
          </p:cNvPr>
          <p:cNvSpPr>
            <a:spLocks xmlns:a="http://schemas.openxmlformats.org/drawingml/2006/main" noGrp="1"/>
          </p:cNvSpPr>
          <p:nvPr/>
        </p:nvSpPr>
        <p:spPr>
          <a:xfrm xmlns:a="http://schemas.openxmlformats.org/drawingml/2006/main">
            <a:off x="8439150" y="2857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3000" b="1">
                <a:solidFill>
                  <a:srgbClr val="191919"/>
                </a:solidFill>
                <a:latin typeface="Arial"/>
                <a:ea typeface="Arial"/>
                <a:cs typeface="Arial"/>
              </a:defRPr>
            </a:pPr>
            <a:r>
              <a:rPr sz="3000" b="1">
                <a:solidFill>
                  <a:srgbClr val="191919"/>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AEDA1E4D-2C35-481B-A250-38125BF8F14E}"/>
              </a:ext>
            </a:extLst>
          </p:cNvPr>
          <p:cNvSpPr>
            <a:spLocks xmlns:a="http://schemas.openxmlformats.org/drawingml/2006/main" noGrp="1"/>
          </p:cNvSpPr>
          <p:nvPr/>
        </p:nvSpPr>
        <p:spPr>
          <a:xfrm xmlns:a="http://schemas.openxmlformats.org/drawingml/2006/main">
            <a:off x="9124950" y="28765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76767"/>
                </a:solidFill>
                <a:latin typeface="Arial"/>
                <a:ea typeface="Arial"/>
                <a:cs typeface="Arial"/>
              </a:defRPr>
            </a:pPr>
            <a:r>
              <a:rPr sz="1800" b="0">
                <a:solidFill>
                  <a:srgbClr val="676767"/>
                </a:solidFill>
                <a:latin typeface="Arial"/>
                <a:ea typeface="Arial"/>
                <a:cs typeface="Arial"/>
              </a:rPr>
              <a:t>O construtor privado bloqueia new</a:t>
            </a:r>
          </a:p>
        </p:txBody>
      </p:sp>
      <p:sp>
        <p:nvSpPr>
          <p:cNvPr id="8" name="">
            <a:extLst xmlns:a="http://schemas.openxmlformats.org/drawingml/2006/main">
              <a:ext uri="{FF2B5EF4-FFF2-40B4-BE49-F238E27FC236}">
                <a16:creationId xmlns:a16="http://schemas.microsoft.com/office/drawing/2014/main" id="{D26DE469-A403-442B-860C-2F753A196195}"/>
              </a:ext>
            </a:extLst>
          </p:cNvPr>
          <p:cNvSpPr>
            <a:spLocks xmlns:a="http://schemas.openxmlformats.org/drawingml/2006/main" noGrp="1"/>
          </p:cNvSpPr>
          <p:nvPr/>
        </p:nvSpPr>
        <p:spPr>
          <a:xfrm xmlns:a="http://schemas.openxmlformats.org/drawingml/2006/main">
            <a:off x="8439150" y="40195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3000" b="1">
                <a:solidFill>
                  <a:srgbClr val="191919"/>
                </a:solidFill>
                <a:latin typeface="Arial"/>
                <a:ea typeface="Arial"/>
                <a:cs typeface="Arial"/>
              </a:defRPr>
            </a:pPr>
            <a:r>
              <a:rPr sz="3000" b="1">
                <a:solidFill>
                  <a:srgbClr val="191919"/>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91D69032-1D31-4960-8283-9443D28FED87}"/>
              </a:ext>
            </a:extLst>
          </p:cNvPr>
          <p:cNvSpPr>
            <a:spLocks xmlns:a="http://schemas.openxmlformats.org/drawingml/2006/main" noGrp="1"/>
          </p:cNvSpPr>
          <p:nvPr/>
        </p:nvSpPr>
        <p:spPr>
          <a:xfrm xmlns:a="http://schemas.openxmlformats.org/drawingml/2006/main">
            <a:off x="9124950" y="403860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76767"/>
                </a:solidFill>
                <a:latin typeface="Arial"/>
                <a:ea typeface="Arial"/>
                <a:cs typeface="Arial"/>
              </a:defRPr>
            </a:pPr>
            <a:r>
              <a:rPr sz="1800" b="0">
                <a:solidFill>
                  <a:srgbClr val="676767"/>
                </a:solidFill>
                <a:latin typeface="Arial"/>
                <a:ea typeface="Arial"/>
                <a:cs typeface="Arial"/>
              </a:rPr>
              <a:t>O método devolve o único objeto</a:t>
            </a:r>
          </a:p>
        </p:txBody>
      </p:sp>
      <p:sp>
        <p:nvSpPr>
          <p:cNvPr id="10" name="">
            <a:extLst xmlns:a="http://schemas.openxmlformats.org/drawingml/2006/main">
              <a:ext uri="{FF2B5EF4-FFF2-40B4-BE49-F238E27FC236}">
                <a16:creationId xmlns:a16="http://schemas.microsoft.com/office/drawing/2014/main" id="{E84383E7-A7A6-46AB-864B-94BE7B07B48B}"/>
              </a:ext>
            </a:extLst>
          </p:cNvPr>
          <p:cNvSpPr>
            <a:spLocks xmlns:a="http://schemas.openxmlformats.org/drawingml/2006/main" noGrp="1"/>
          </p:cNvSpPr>
          <p:nvPr/>
        </p:nvSpPr>
        <p:spPr>
          <a:xfrm xmlns:a="http://schemas.openxmlformats.org/drawingml/2006/main">
            <a:off x="685800" y="60007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0">
                <a:solidFill>
                  <a:srgbClr val="676767"/>
                </a:solidFill>
                <a:latin typeface="Arial"/>
                <a:ea typeface="Arial"/>
                <a:cs typeface="Arial"/>
              </a:defRPr>
            </a:pPr>
            <a:r>
              <a:rPr sz="1650" b="0">
                <a:solidFill>
                  <a:srgbClr val="676767"/>
                </a:solidFill>
                <a:latin typeface="Arial"/>
                <a:ea typeface="Arial"/>
                <a:cs typeface="Arial"/>
              </a:rPr>
              <a:t>Inicialização antecipada: a JVM cria a instância ao inicializar a classe.</a:t>
            </a:r>
          </a:p>
        </p:txBody>
      </p:sp>
    </p:spTree>
    <p:extLst>
      <p:ext uri="{BB962C8B-B14F-4D97-AF65-F5344CB8AC3E}">
        <p14:creationId xmlns:p14="http://schemas.microsoft.com/office/powerpoint/2010/main" val="2451481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38CB716A-5F27-4B49-BE5E-FDBF2AE5D968}"/>
              </a:ext>
            </a:extLst>
          </p:cNvPr>
          <p:cNvSpPr>
            <a:spLocks xmlns:a="http://schemas.openxmlformats.org/drawingml/2006/main" noGrp="1"/>
          </p:cNvSpPr>
          <p:nvPr/>
        </p:nvSpPr>
        <p:spPr>
          <a:xfrm xmlns:a="http://schemas.openxmlformats.org/drawingml/2006/main">
            <a:off x="685800" y="4381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676767"/>
                </a:solidFill>
                <a:latin typeface="Arial"/>
                <a:ea typeface="Arial"/>
                <a:cs typeface="Arial"/>
              </a:defRPr>
            </a:pPr>
            <a:r>
              <a:rPr sz="1350" b="1">
                <a:solidFill>
                  <a:srgbClr val="676767"/>
                </a:solidFill>
                <a:latin typeface="Arial"/>
                <a:ea typeface="Arial"/>
                <a:cs typeface="Arial"/>
              </a:rPr>
              <a:t>DEMONSTRAÇÃO</a:t>
            </a:r>
          </a:p>
        </p:txBody>
      </p:sp>
      <p:sp>
        <p:nvSpPr>
          <p:cNvPr id="2" name="slide-title">
            <a:extLst xmlns:a="http://schemas.openxmlformats.org/drawingml/2006/main">
              <a:ext uri="{FF2B5EF4-FFF2-40B4-BE49-F238E27FC236}">
                <a16:creationId xmlns:a16="http://schemas.microsoft.com/office/drawing/2014/main" id="{E1D3805E-10A0-412A-9C6D-B4E33BEDE0EF}"/>
              </a:ext>
            </a:extLst>
          </p:cNvPr>
          <p:cNvSpPr>
            <a:spLocks xmlns:a="http://schemas.openxmlformats.org/drawingml/2006/main" noGrp="1"/>
          </p:cNvSpPr>
          <p:nvPr/>
        </p:nvSpPr>
        <p:spPr>
          <a:xfrm xmlns:a="http://schemas.openxmlformats.org/drawingml/2006/main">
            <a:off x="685800" y="7429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750" b="1">
                <a:solidFill>
                  <a:srgbClr val="191919"/>
                </a:solidFill>
                <a:latin typeface="Arial"/>
                <a:ea typeface="Arial"/>
                <a:cs typeface="Arial"/>
              </a:defRPr>
            </a:pPr>
            <a:r>
              <a:rPr sz="3750" b="1">
                <a:solidFill>
                  <a:srgbClr val="191919"/>
                </a:solidFill>
                <a:latin typeface="Arial"/>
                <a:ea typeface="Arial"/>
                <a:cs typeface="Arial"/>
              </a:rPr>
              <a:t>Uma central compartilhada</a:t>
            </a:r>
          </a:p>
        </p:txBody>
      </p:sp>
      <p:sp>
        <p:nvSpPr>
          <p:cNvPr id="3" name="shared-org-1">
            <a:extLst xmlns:a="http://schemas.openxmlformats.org/drawingml/2006/main">
              <a:ext uri="{FF2B5EF4-FFF2-40B4-BE49-F238E27FC236}">
                <a16:creationId xmlns:a16="http://schemas.microsoft.com/office/drawing/2014/main" id="{855D1AD4-6C1A-4D6F-8684-A7D16F6F3676}"/>
              </a:ext>
            </a:extLst>
          </p:cNvPr>
          <p:cNvSpPr>
            <a:spLocks xmlns:a="http://schemas.openxmlformats.org/drawingml/2006/main" noGrp="1"/>
          </p:cNvSpPr>
          <p:nvPr/>
        </p:nvSpPr>
        <p:spPr>
          <a:xfrm xmlns:a="http://schemas.openxmlformats.org/drawingml/2006/main">
            <a:off x="876300" y="1714500"/>
            <a:ext cx="2381250" cy="609600"/>
          </a:xfrm>
          <a:prstGeom xmlns:a="http://schemas.openxmlformats.org/drawingml/2006/main" prst="rect">
            <a:avLst/>
          </a:prstGeom>
          <a:solidFill xmlns:a="http://schemas.openxmlformats.org/drawingml/2006/main">
            <a:srgbClr val="E4E4E4"/>
          </a:solidFill>
          <a:ln xmlns:a="http://schemas.openxmlformats.org/drawingml/2006/main" w="19050">
            <a:solidFill>
              <a:srgbClr val="A5A5A5"/>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0000"/>
              </a:lnSpc>
              <a:buNone/>
              <a:defRPr sz="1725" b="1">
                <a:solidFill>
                  <a:srgbClr val="191919"/>
                </a:solidFill>
                <a:latin typeface="Arial"/>
                <a:ea typeface="Arial"/>
                <a:cs typeface="Arial"/>
              </a:defRPr>
            </a:pPr>
            <a:r>
              <a:rPr sz="1725" b="1">
                <a:solidFill>
                  <a:srgbClr val="191919"/>
                </a:solidFill>
                <a:latin typeface="Arial"/>
                <a:ea typeface="Arial"/>
                <a:cs typeface="Arial"/>
              </a:rPr>
              <a:t>POLÍCIA</a:t>
            </a:r>
          </a:p>
        </p:txBody>
      </p:sp>
      <p:sp>
        <p:nvSpPr>
          <p:cNvPr id="4" name="shared-org-2">
            <a:extLst xmlns:a="http://schemas.openxmlformats.org/drawingml/2006/main">
              <a:ext uri="{FF2B5EF4-FFF2-40B4-BE49-F238E27FC236}">
                <a16:creationId xmlns:a16="http://schemas.microsoft.com/office/drawing/2014/main" id="{854F9595-C13C-42A4-8C73-7F1E05B811A4}"/>
              </a:ext>
            </a:extLst>
          </p:cNvPr>
          <p:cNvSpPr>
            <a:spLocks xmlns:a="http://schemas.openxmlformats.org/drawingml/2006/main" noGrp="1"/>
          </p:cNvSpPr>
          <p:nvPr/>
        </p:nvSpPr>
        <p:spPr>
          <a:xfrm xmlns:a="http://schemas.openxmlformats.org/drawingml/2006/main">
            <a:off x="4905375" y="1714500"/>
            <a:ext cx="2381250" cy="609600"/>
          </a:xfrm>
          <a:prstGeom xmlns:a="http://schemas.openxmlformats.org/drawingml/2006/main" prst="rect">
            <a:avLst/>
          </a:prstGeom>
          <a:solidFill xmlns:a="http://schemas.openxmlformats.org/drawingml/2006/main">
            <a:srgbClr val="E4E4E4"/>
          </a:solidFill>
          <a:ln xmlns:a="http://schemas.openxmlformats.org/drawingml/2006/main" w="19050">
            <a:solidFill>
              <a:srgbClr val="A5A5A5"/>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0000"/>
              </a:lnSpc>
              <a:buNone/>
              <a:defRPr sz="1725" b="1">
                <a:solidFill>
                  <a:srgbClr val="191919"/>
                </a:solidFill>
                <a:latin typeface="Arial"/>
                <a:ea typeface="Arial"/>
                <a:cs typeface="Arial"/>
              </a:defRPr>
            </a:pPr>
            <a:r>
              <a:rPr sz="1725" b="1">
                <a:solidFill>
                  <a:srgbClr val="191919"/>
                </a:solidFill>
                <a:latin typeface="Arial"/>
                <a:ea typeface="Arial"/>
                <a:cs typeface="Arial"/>
              </a:rPr>
              <a:t>BOMBEIROS</a:t>
            </a:r>
          </a:p>
        </p:txBody>
      </p:sp>
      <p:sp>
        <p:nvSpPr>
          <p:cNvPr id="5" name="shared-org-3">
            <a:extLst xmlns:a="http://schemas.openxmlformats.org/drawingml/2006/main">
              <a:ext uri="{FF2B5EF4-FFF2-40B4-BE49-F238E27FC236}">
                <a16:creationId xmlns:a16="http://schemas.microsoft.com/office/drawing/2014/main" id="{FEC39DDE-7858-4A2A-9D4C-1D408B38DC1D}"/>
              </a:ext>
            </a:extLst>
          </p:cNvPr>
          <p:cNvSpPr>
            <a:spLocks xmlns:a="http://schemas.openxmlformats.org/drawingml/2006/main" noGrp="1"/>
          </p:cNvSpPr>
          <p:nvPr/>
        </p:nvSpPr>
        <p:spPr>
          <a:xfrm xmlns:a="http://schemas.openxmlformats.org/drawingml/2006/main">
            <a:off x="8934450" y="1714500"/>
            <a:ext cx="2381250" cy="609600"/>
          </a:xfrm>
          <a:prstGeom xmlns:a="http://schemas.openxmlformats.org/drawingml/2006/main" prst="rect">
            <a:avLst/>
          </a:prstGeom>
          <a:solidFill xmlns:a="http://schemas.openxmlformats.org/drawingml/2006/main">
            <a:srgbClr val="E4E4E4"/>
          </a:solidFill>
          <a:ln xmlns:a="http://schemas.openxmlformats.org/drawingml/2006/main" w="19050">
            <a:solidFill>
              <a:srgbClr val="A5A5A5"/>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0000"/>
              </a:lnSpc>
              <a:buNone/>
              <a:defRPr sz="1725" b="1">
                <a:solidFill>
                  <a:srgbClr val="191919"/>
                </a:solidFill>
                <a:latin typeface="Arial"/>
                <a:ea typeface="Arial"/>
                <a:cs typeface="Arial"/>
              </a:defRPr>
            </a:pPr>
            <a:r>
              <a:rPr sz="1725" b="1">
                <a:solidFill>
                  <a:srgbClr val="191919"/>
                </a:solidFill>
                <a:latin typeface="Arial"/>
                <a:ea typeface="Arial"/>
                <a:cs typeface="Arial"/>
              </a:rPr>
              <a:t>SAMU</a:t>
            </a:r>
          </a:p>
        </p:txBody>
      </p:sp>
      <p:sp>
        <p:nvSpPr>
          <p:cNvPr id="6" name="singleton-center">
            <a:extLst xmlns:a="http://schemas.openxmlformats.org/drawingml/2006/main">
              <a:ext uri="{FF2B5EF4-FFF2-40B4-BE49-F238E27FC236}">
                <a16:creationId xmlns:a16="http://schemas.microsoft.com/office/drawing/2014/main" id="{F71822E2-8ED3-4AEE-B07C-9849CE77AE2F}"/>
              </a:ext>
            </a:extLst>
          </p:cNvPr>
          <p:cNvSpPr>
            <a:spLocks xmlns:a="http://schemas.openxmlformats.org/drawingml/2006/main" noGrp="1"/>
          </p:cNvSpPr>
          <p:nvPr/>
        </p:nvSpPr>
        <p:spPr>
          <a:xfrm xmlns:a="http://schemas.openxmlformats.org/drawingml/2006/main">
            <a:off x="3714750" y="3143250"/>
            <a:ext cx="4762500" cy="1200150"/>
          </a:xfrm>
          <a:prstGeom xmlns:a="http://schemas.openxmlformats.org/drawingml/2006/main" prst="rect">
            <a:avLst/>
          </a:prstGeom>
          <a:solidFill xmlns:a="http://schemas.openxmlformats.org/drawingml/2006/main">
            <a:srgbClr val="191919"/>
          </a:solidFill>
          <a:ln xmlns:a="http://schemas.openxmlformats.org/drawingml/2006/main" w="19050">
            <a:solidFill>
              <a:srgbClr val="191919"/>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12000"/>
              </a:lnSpc>
              <a:buNone/>
              <a:defRPr sz="1950" b="1">
                <a:solidFill>
                  <a:srgbClr val="FFFFFF"/>
                </a:solidFill>
                <a:latin typeface="Arial"/>
                <a:ea typeface="Arial"/>
                <a:cs typeface="Arial"/>
              </a:defRPr>
            </a:pPr>
            <a:r>
              <a:rPr sz="1950" b="1">
                <a:solidFill>
                  <a:srgbClr val="FFFFFF"/>
                </a:solidFill>
                <a:latin typeface="Arial"/>
                <a:ea typeface="Arial"/>
                <a:cs typeface="Arial"/>
              </a:rPr>
              <a:t>CENTRAL DE ALERTAS</a:t>
            </a:r>
          </a:p>
          <a:p xmlns:a="http://schemas.openxmlformats.org/drawingml/2006/main">
            <a:pPr algn="ctr">
              <a:lnSpc>
                <a:spcPct val="112000"/>
              </a:lnSpc>
              <a:buNone/>
              <a:defRPr sz="1950" b="1">
                <a:solidFill>
                  <a:srgbClr val="FFFFFF"/>
                </a:solidFill>
                <a:latin typeface="Arial"/>
                <a:ea typeface="Arial"/>
                <a:cs typeface="Arial"/>
              </a:defRPr>
            </a:pPr>
            <a:r>
              <a:rPr sz="1950" b="1">
                <a:solidFill>
                  <a:srgbClr val="FFFFFF"/>
                </a:solidFill>
                <a:latin typeface="Arial"/>
                <a:ea typeface="Arial"/>
                <a:cs typeface="Arial"/>
              </a:rPr>
              <a:t>3 mensagens no mesmo histórico</a:t>
            </a:r>
          </a:p>
        </p:txBody>
      </p:sp>
      <p:cxnSp>
        <p:nvCxnSpPr>
          <p:cNvPr id="19" name=""/>
          <p:cNvCxnSpPr>
            <a:stCxn xmlns:a="http://schemas.openxmlformats.org/drawingml/2006/main" id="3" idx="2"/>
            <a:endCxn xmlns:a="http://schemas.openxmlformats.org/drawingml/2006/main" id="6" idx="0"/>
          </p:cNvCxnSpPr>
          <p:nvPr/>
        </p:nvCxnSpPr>
        <p:spPr>
          <a:xfrm xmlns:a="http://schemas.openxmlformats.org/drawingml/2006/main">
            <a:off x="2066925" y="2324100"/>
            <a:ext cx="4029075" cy="819150"/>
          </a:xfrm>
          <a:prstGeom xmlns:a="http://schemas.openxmlformats.org/drawingml/2006/main" prst="bentConnector4">
            <a:avLst>
              <a:gd name="adj1" fmla="val 0"/>
              <a:gd name="adj2" fmla="val 50000"/>
            </a:avLst>
          </a:prstGeom>
          <a:ln xmlns:a="http://schemas.openxmlformats.org/drawingml/2006/main" w="28575">
            <a:solidFill>
              <a:srgbClr val="676767"/>
            </a:solidFill>
            <a:prstDash val="solid"/>
          </a:ln>
        </p:spPr>
      </p:cxnSp>
      <p:cxnSp>
        <p:nvCxnSpPr>
          <p:cNvPr id="20" name=""/>
          <p:cNvCxnSpPr>
            <a:stCxn xmlns:a="http://schemas.openxmlformats.org/drawingml/2006/main" id="4" idx="2"/>
            <a:endCxn xmlns:a="http://schemas.openxmlformats.org/drawingml/2006/main" id="6" idx="0"/>
          </p:cNvCxnSpPr>
          <p:nvPr/>
        </p:nvCxnSpPr>
        <p:spPr>
          <a:xfrm xmlns:a="http://schemas.openxmlformats.org/drawingml/2006/main">
            <a:off x="6096000" y="2324100"/>
            <a:ext cx="0" cy="819150"/>
          </a:xfrm>
          <a:prstGeom xmlns:a="http://schemas.openxmlformats.org/drawingml/2006/main" prst="straightConnector1">
            <a:avLst/>
          </a:prstGeom>
          <a:ln xmlns:a="http://schemas.openxmlformats.org/drawingml/2006/main" w="28575">
            <a:solidFill>
              <a:srgbClr val="676767"/>
            </a:solidFill>
            <a:prstDash val="solid"/>
          </a:ln>
        </p:spPr>
      </p:cxnSp>
      <p:cxnSp>
        <p:nvCxnSpPr>
          <p:cNvPr id="21" name=""/>
          <p:cNvCxnSpPr>
            <a:stCxn xmlns:a="http://schemas.openxmlformats.org/drawingml/2006/main" id="5" idx="2"/>
            <a:endCxn xmlns:a="http://schemas.openxmlformats.org/drawingml/2006/main" id="6" idx="0"/>
          </p:cNvCxnSpPr>
          <p:nvPr/>
        </p:nvCxnSpPr>
        <p:spPr>
          <a:xfrm xmlns:a="http://schemas.openxmlformats.org/drawingml/2006/main" flipH="1">
            <a:off x="6096000" y="2324100"/>
            <a:ext cx="4029075" cy="819150"/>
          </a:xfrm>
          <a:prstGeom xmlns:a="http://schemas.openxmlformats.org/drawingml/2006/main" prst="bentConnector4">
            <a:avLst>
              <a:gd name="adj1" fmla="val 0"/>
              <a:gd name="adj2" fmla="val 50000"/>
            </a:avLst>
          </a:prstGeom>
          <a:ln xmlns:a="http://schemas.openxmlformats.org/drawingml/2006/main" w="28575">
            <a:solidFill>
              <a:srgbClr val="676767"/>
            </a:solidFill>
            <a:prstDash val="solid"/>
          </a:ln>
        </p:spPr>
      </p:cxnSp>
      <p:sp>
        <p:nvSpPr>
          <p:cNvPr id="10" name="">
            <a:extLst xmlns:a="http://schemas.openxmlformats.org/drawingml/2006/main">
              <a:ext uri="{FF2B5EF4-FFF2-40B4-BE49-F238E27FC236}">
                <a16:creationId xmlns:a16="http://schemas.microsoft.com/office/drawing/2014/main" id="{9F959C33-6B30-43DC-90F5-6C3AD11F924E}"/>
              </a:ext>
            </a:extLst>
          </p:cNvPr>
          <p:cNvSpPr>
            <a:spLocks xmlns:a="http://schemas.openxmlformats.org/drawingml/2006/main" noGrp="1"/>
          </p:cNvSpPr>
          <p:nvPr/>
        </p:nvSpPr>
        <p:spPr>
          <a:xfrm xmlns:a="http://schemas.openxmlformats.org/drawingml/2006/main">
            <a:off x="1771650" y="501015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2175" b="1">
                <a:solidFill>
                  <a:srgbClr val="191919"/>
                </a:solidFill>
                <a:latin typeface="Courier New"/>
                <a:ea typeface="Courier New"/>
                <a:cs typeface="Courier New"/>
              </a:defRPr>
            </a:pPr>
            <a:r>
              <a:rPr sz="2175" b="1">
                <a:solidFill>
                  <a:srgbClr val="191919"/>
                </a:solidFill>
                <a:latin typeface="Courier New"/>
                <a:ea typeface="Courier New"/>
                <a:cs typeface="Courier New"/>
              </a:rPr>
              <a:t>centralDaPolicia == centralDoSamu</a:t>
            </a:r>
          </a:p>
        </p:txBody>
      </p:sp>
      <p:sp>
        <p:nvSpPr>
          <p:cNvPr id="11" name="">
            <a:extLst xmlns:a="http://schemas.openxmlformats.org/drawingml/2006/main">
              <a:ext uri="{FF2B5EF4-FFF2-40B4-BE49-F238E27FC236}">
                <a16:creationId xmlns:a16="http://schemas.microsoft.com/office/drawing/2014/main" id="{433CBDCE-243F-4142-B1A4-D282F4184E6D}"/>
              </a:ext>
            </a:extLst>
          </p:cNvPr>
          <p:cNvSpPr>
            <a:spLocks xmlns:a="http://schemas.openxmlformats.org/drawingml/2006/main" noGrp="1"/>
          </p:cNvSpPr>
          <p:nvPr/>
        </p:nvSpPr>
        <p:spPr>
          <a:xfrm xmlns:a="http://schemas.openxmlformats.org/drawingml/2006/main">
            <a:off x="8382000" y="481965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4350" b="1">
                <a:solidFill>
                  <a:srgbClr val="191919"/>
                </a:solidFill>
                <a:latin typeface="Courier New"/>
                <a:ea typeface="Courier New"/>
                <a:cs typeface="Courier New"/>
              </a:defRPr>
            </a:pPr>
            <a:r>
              <a:rPr sz="4350" b="1">
                <a:solidFill>
                  <a:srgbClr val="191919"/>
                </a:solidFill>
                <a:latin typeface="Courier New"/>
                <a:ea typeface="Courier New"/>
                <a:cs typeface="Courier New"/>
              </a:rPr>
              <a:t>true</a:t>
            </a:r>
          </a:p>
        </p:txBody>
      </p:sp>
      <p:sp>
        <p:nvSpPr>
          <p:cNvPr id="12" name="">
            <a:extLst xmlns:a="http://schemas.openxmlformats.org/drawingml/2006/main">
              <a:ext uri="{FF2B5EF4-FFF2-40B4-BE49-F238E27FC236}">
                <a16:creationId xmlns:a16="http://schemas.microsoft.com/office/drawing/2014/main" id="{BCD8C9F8-69EE-4DD2-8353-BF859EC039F6}"/>
              </a:ext>
            </a:extLst>
          </p:cNvPr>
          <p:cNvSpPr>
            <a:spLocks xmlns:a="http://schemas.openxmlformats.org/drawingml/2006/main" noGrp="1"/>
          </p:cNvSpPr>
          <p:nvPr/>
        </p:nvSpPr>
        <p:spPr>
          <a:xfrm xmlns:a="http://schemas.openxmlformats.org/drawingml/2006/main">
            <a:off x="2209800" y="5829300"/>
            <a:ext cx="7772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0">
                <a:solidFill>
                  <a:srgbClr val="676767"/>
                </a:solidFill>
                <a:latin typeface="Arial"/>
                <a:ea typeface="Arial"/>
                <a:cs typeface="Arial"/>
              </a:defRPr>
            </a:pPr>
            <a:r>
              <a:rPr sz="1725" b="0">
                <a:solidFill>
                  <a:srgbClr val="676767"/>
                </a:solidFill>
                <a:latin typeface="Arial"/>
                <a:ea typeface="Arial"/>
                <a:cs typeface="Arial"/>
              </a:rPr>
              <a:t>Variáveis diferentes apontam para o mesmo objeto na memória.</a:t>
            </a:r>
          </a:p>
        </p:txBody>
      </p:sp>
    </p:spTree>
    <p:extLst>
      <p:ext uri="{BB962C8B-B14F-4D97-AF65-F5344CB8AC3E}">
        <p14:creationId xmlns:p14="http://schemas.microsoft.com/office/powerpoint/2010/main" val="2577117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42489AD3-05B1-46A0-AD63-3BC2AA9EAD81}"/>
              </a:ext>
            </a:extLst>
          </p:cNvPr>
          <p:cNvSpPr>
            <a:spLocks xmlns:a="http://schemas.openxmlformats.org/drawingml/2006/main" noGrp="1"/>
          </p:cNvSpPr>
          <p:nvPr/>
        </p:nvSpPr>
        <p:spPr>
          <a:xfrm xmlns:a="http://schemas.openxmlformats.org/drawingml/2006/main">
            <a:off x="685800" y="323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676767"/>
                </a:solidFill>
                <a:latin typeface="Arial"/>
                <a:ea typeface="Arial"/>
                <a:cs typeface="Arial"/>
              </a:defRPr>
            </a:pPr>
            <a:r>
              <a:rPr sz="1350" b="1">
                <a:solidFill>
                  <a:srgbClr val="676767"/>
                </a:solidFill>
                <a:latin typeface="Arial"/>
                <a:ea typeface="Arial"/>
                <a:cs typeface="Arial"/>
              </a:rPr>
              <a:t>DECISÃO</a:t>
            </a:r>
          </a:p>
        </p:txBody>
      </p:sp>
      <p:sp>
        <p:nvSpPr>
          <p:cNvPr id="2" name="slide-title">
            <a:extLst xmlns:a="http://schemas.openxmlformats.org/drawingml/2006/main">
              <a:ext uri="{FF2B5EF4-FFF2-40B4-BE49-F238E27FC236}">
                <a16:creationId xmlns:a16="http://schemas.microsoft.com/office/drawing/2014/main" id="{F89F6B16-49E5-4624-9CE5-716F967DF1D7}"/>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191919"/>
                </a:solidFill>
                <a:latin typeface="Arial"/>
                <a:ea typeface="Arial"/>
                <a:cs typeface="Arial"/>
              </a:defRPr>
            </a:pPr>
            <a:r>
              <a:rPr sz="3525" b="1">
                <a:solidFill>
                  <a:srgbClr val="191919"/>
                </a:solidFill>
                <a:latin typeface="Arial"/>
                <a:ea typeface="Arial"/>
                <a:cs typeface="Arial"/>
              </a:rPr>
              <a:t>Quando o Singleton faz sentido</a:t>
            </a:r>
          </a:p>
        </p:txBody>
      </p:sp>
      <p:sp>
        <p:nvSpPr>
          <p:cNvPr id="3" name="">
            <a:extLst xmlns:a="http://schemas.openxmlformats.org/drawingml/2006/main">
              <a:ext uri="{FF2B5EF4-FFF2-40B4-BE49-F238E27FC236}">
                <a16:creationId xmlns:a16="http://schemas.microsoft.com/office/drawing/2014/main" id="{CF8FA491-3293-4BD4-8F8C-60B8288B1162}"/>
              </a:ext>
            </a:extLst>
          </p:cNvPr>
          <p:cNvSpPr>
            <a:spLocks xmlns:a="http://schemas.openxmlformats.org/drawingml/2006/main" noGrp="1"/>
          </p:cNvSpPr>
          <p:nvPr/>
        </p:nvSpPr>
        <p:spPr>
          <a:xfrm xmlns:a="http://schemas.openxmlformats.org/drawingml/2006/main">
            <a:off x="6096000" y="1695450"/>
            <a:ext cx="0" cy="3276600"/>
          </a:xfrm>
          <a:prstGeom xmlns:a="http://schemas.openxmlformats.org/drawingml/2006/main" prst="line">
            <a:avLst/>
          </a:prstGeom>
          <a:noFill xmlns:a="http://schemas.openxmlformats.org/drawingml/2006/main"/>
          <a:ln xmlns:a="http://schemas.openxmlformats.org/drawingml/2006/main" w="28575">
            <a:solidFill>
              <a:srgbClr val="E4E4E4"/>
            </a:solidFill>
            <a:prstDash val="solid"/>
          </a:ln>
        </p:spPr>
      </p:sp>
      <p:sp>
        <p:nvSpPr>
          <p:cNvPr id="4" name="">
            <a:extLst xmlns:a="http://schemas.openxmlformats.org/drawingml/2006/main">
              <a:ext uri="{FF2B5EF4-FFF2-40B4-BE49-F238E27FC236}">
                <a16:creationId xmlns:a16="http://schemas.microsoft.com/office/drawing/2014/main" id="{BA5449A4-23C3-4203-819E-D8C4E2DE92F2}"/>
              </a:ext>
            </a:extLst>
          </p:cNvPr>
          <p:cNvSpPr>
            <a:spLocks xmlns:a="http://schemas.openxmlformats.org/drawingml/2006/main" noGrp="1"/>
          </p:cNvSpPr>
          <p:nvPr/>
        </p:nvSpPr>
        <p:spPr>
          <a:xfrm xmlns:a="http://schemas.openxmlformats.org/drawingml/2006/main">
            <a:off x="762000" y="16954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a:solidFill>
                  <a:srgbClr val="191919"/>
                </a:solidFill>
                <a:latin typeface="Arial"/>
                <a:ea typeface="Arial"/>
                <a:cs typeface="Arial"/>
              </a:defRPr>
            </a:pPr>
            <a:r>
              <a:rPr sz="1875" b="1">
                <a:solidFill>
                  <a:srgbClr val="191919"/>
                </a:solidFill>
                <a:latin typeface="Arial"/>
                <a:ea typeface="Arial"/>
                <a:cs typeface="Arial"/>
              </a:rPr>
              <a:t>USE QUANDO</a:t>
            </a:r>
          </a:p>
        </p:txBody>
      </p:sp>
      <p:sp>
        <p:nvSpPr>
          <p:cNvPr id="5" name="">
            <a:extLst xmlns:a="http://schemas.openxmlformats.org/drawingml/2006/main">
              <a:ext uri="{FF2B5EF4-FFF2-40B4-BE49-F238E27FC236}">
                <a16:creationId xmlns:a16="http://schemas.microsoft.com/office/drawing/2014/main" id="{112C3D47-1380-4D98-BDBD-CC2E01F95FEA}"/>
              </a:ext>
            </a:extLst>
          </p:cNvPr>
          <p:cNvSpPr>
            <a:spLocks xmlns:a="http://schemas.openxmlformats.org/drawingml/2006/main" noGrp="1"/>
          </p:cNvSpPr>
          <p:nvPr/>
        </p:nvSpPr>
        <p:spPr>
          <a:xfrm xmlns:a="http://schemas.openxmlformats.org/drawingml/2006/main">
            <a:off x="762000" y="2266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91919"/>
                </a:solidFill>
                <a:latin typeface="Arial"/>
                <a:ea typeface="Arial"/>
                <a:cs typeface="Arial"/>
              </a:defRPr>
            </a:pPr>
            <a:r>
              <a:rPr sz="2325" b="1">
                <a:solidFill>
                  <a:srgbClr val="191919"/>
                </a:solidFill>
                <a:latin typeface="Arial"/>
                <a:ea typeface="Arial"/>
                <a:cs typeface="Arial"/>
              </a:rPr>
              <a:t>A unicidade faz parte do requisito</a:t>
            </a:r>
          </a:p>
        </p:txBody>
      </p:sp>
      <p:sp>
        <p:nvSpPr>
          <p:cNvPr id="6" name="">
            <a:extLst xmlns:a="http://schemas.openxmlformats.org/drawingml/2006/main">
              <a:ext uri="{FF2B5EF4-FFF2-40B4-BE49-F238E27FC236}">
                <a16:creationId xmlns:a16="http://schemas.microsoft.com/office/drawing/2014/main" id="{59491224-02BB-41D1-9117-2BDECF349850}"/>
              </a:ext>
            </a:extLst>
          </p:cNvPr>
          <p:cNvSpPr>
            <a:spLocks xmlns:a="http://schemas.openxmlformats.org/drawingml/2006/main" noGrp="1"/>
          </p:cNvSpPr>
          <p:nvPr/>
        </p:nvSpPr>
        <p:spPr>
          <a:xfrm xmlns:a="http://schemas.openxmlformats.org/drawingml/2006/main">
            <a:off x="762000" y="310515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950" b="0">
                <a:solidFill>
                  <a:srgbClr val="676767"/>
                </a:solidFill>
                <a:latin typeface="Arial"/>
                <a:ea typeface="Arial"/>
                <a:cs typeface="Arial"/>
              </a:defRPr>
            </a:pPr>
            <a:r>
              <a:rPr sz="1950" b="0">
                <a:solidFill>
                  <a:srgbClr val="676767"/>
                </a:solidFill>
                <a:latin typeface="Arial"/>
                <a:ea typeface="Arial"/>
                <a:cs typeface="Arial"/>
              </a:rPr>
              <a:t>Configurações da aplicação</a:t>
            </a:r>
          </a:p>
          <a:p xmlns:a="http://schemas.openxmlformats.org/drawingml/2006/main">
            <a:pPr algn="l">
              <a:lnSpc>
                <a:spcPct val="124000"/>
              </a:lnSpc>
              <a:buNone/>
              <a:defRPr sz="1950" b="0">
                <a:solidFill>
                  <a:srgbClr val="676767"/>
                </a:solidFill>
                <a:latin typeface="Arial"/>
                <a:ea typeface="Arial"/>
                <a:cs typeface="Arial"/>
              </a:defRPr>
            </a:pPr>
            <a:r>
              <a:rPr sz="1950" b="0">
                <a:solidFill>
                  <a:srgbClr val="676767"/>
                </a:solidFill>
                <a:latin typeface="Arial"/>
                <a:ea typeface="Arial"/>
                <a:cs typeface="Arial"/>
              </a:rPr>
              <a:t>Registro central de eventos</a:t>
            </a:r>
          </a:p>
          <a:p xmlns:a="http://schemas.openxmlformats.org/drawingml/2006/main">
            <a:pPr algn="l">
              <a:lnSpc>
                <a:spcPct val="124000"/>
              </a:lnSpc>
              <a:buNone/>
              <a:defRPr sz="1950" b="0">
                <a:solidFill>
                  <a:srgbClr val="676767"/>
                </a:solidFill>
                <a:latin typeface="Arial"/>
                <a:ea typeface="Arial"/>
                <a:cs typeface="Arial"/>
              </a:defRPr>
            </a:pPr>
            <a:r>
              <a:rPr sz="1950" b="0">
                <a:solidFill>
                  <a:srgbClr val="676767"/>
                </a:solidFill>
                <a:latin typeface="Arial"/>
                <a:ea typeface="Arial"/>
                <a:cs typeface="Arial"/>
              </a:rPr>
              <a:t>Gerenciador local de recursos</a:t>
            </a:r>
          </a:p>
        </p:txBody>
      </p:sp>
      <p:sp>
        <p:nvSpPr>
          <p:cNvPr id="7" name="">
            <a:extLst xmlns:a="http://schemas.openxmlformats.org/drawingml/2006/main">
              <a:ext uri="{FF2B5EF4-FFF2-40B4-BE49-F238E27FC236}">
                <a16:creationId xmlns:a16="http://schemas.microsoft.com/office/drawing/2014/main" id="{57197ECA-E0CF-4BC5-A34C-CBE0601E5C7A}"/>
              </a:ext>
            </a:extLst>
          </p:cNvPr>
          <p:cNvSpPr>
            <a:spLocks xmlns:a="http://schemas.openxmlformats.org/drawingml/2006/main" noGrp="1"/>
          </p:cNvSpPr>
          <p:nvPr/>
        </p:nvSpPr>
        <p:spPr>
          <a:xfrm xmlns:a="http://schemas.openxmlformats.org/drawingml/2006/main">
            <a:off x="6705600" y="16954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a:solidFill>
                  <a:srgbClr val="191919"/>
                </a:solidFill>
                <a:latin typeface="Arial"/>
                <a:ea typeface="Arial"/>
                <a:cs typeface="Arial"/>
              </a:defRPr>
            </a:pPr>
            <a:r>
              <a:rPr sz="1875" b="1">
                <a:solidFill>
                  <a:srgbClr val="191919"/>
                </a:solidFill>
                <a:latin typeface="Arial"/>
                <a:ea typeface="Arial"/>
                <a:cs typeface="Arial"/>
              </a:rPr>
              <a:t>EVITE QUANDO</a:t>
            </a:r>
          </a:p>
        </p:txBody>
      </p:sp>
      <p:sp>
        <p:nvSpPr>
          <p:cNvPr id="8" name="">
            <a:extLst xmlns:a="http://schemas.openxmlformats.org/drawingml/2006/main">
              <a:ext uri="{FF2B5EF4-FFF2-40B4-BE49-F238E27FC236}">
                <a16:creationId xmlns:a16="http://schemas.microsoft.com/office/drawing/2014/main" id="{C276A092-5C3C-4FB7-99C8-E792628BA7BC}"/>
              </a:ext>
            </a:extLst>
          </p:cNvPr>
          <p:cNvSpPr>
            <a:spLocks xmlns:a="http://schemas.openxmlformats.org/drawingml/2006/main" noGrp="1"/>
          </p:cNvSpPr>
          <p:nvPr/>
        </p:nvSpPr>
        <p:spPr>
          <a:xfrm xmlns:a="http://schemas.openxmlformats.org/drawingml/2006/main">
            <a:off x="6705600" y="22669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91919"/>
                </a:solidFill>
                <a:latin typeface="Arial"/>
                <a:ea typeface="Arial"/>
                <a:cs typeface="Arial"/>
              </a:defRPr>
            </a:pPr>
            <a:r>
              <a:rPr sz="2325" b="1">
                <a:solidFill>
                  <a:srgbClr val="191919"/>
                </a:solidFill>
                <a:latin typeface="Arial"/>
                <a:ea typeface="Arial"/>
                <a:cs typeface="Arial"/>
              </a:rPr>
              <a:t>Cada contexto precisa do próprio estado</a:t>
            </a:r>
          </a:p>
        </p:txBody>
      </p:sp>
      <p:sp>
        <p:nvSpPr>
          <p:cNvPr id="9" name="">
            <a:extLst xmlns:a="http://schemas.openxmlformats.org/drawingml/2006/main">
              <a:ext uri="{FF2B5EF4-FFF2-40B4-BE49-F238E27FC236}">
                <a16:creationId xmlns:a16="http://schemas.microsoft.com/office/drawing/2014/main" id="{0DBE0F2D-D19A-4C10-8007-3A580611FC9A}"/>
              </a:ext>
            </a:extLst>
          </p:cNvPr>
          <p:cNvSpPr>
            <a:spLocks xmlns:a="http://schemas.openxmlformats.org/drawingml/2006/main" noGrp="1"/>
          </p:cNvSpPr>
          <p:nvPr/>
        </p:nvSpPr>
        <p:spPr>
          <a:xfrm xmlns:a="http://schemas.openxmlformats.org/drawingml/2006/main">
            <a:off x="6705600" y="310515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950" b="0">
                <a:solidFill>
                  <a:srgbClr val="676767"/>
                </a:solidFill>
                <a:latin typeface="Arial"/>
                <a:ea typeface="Arial"/>
                <a:cs typeface="Arial"/>
              </a:defRPr>
            </a:pPr>
            <a:r>
              <a:rPr sz="1950" b="0">
                <a:solidFill>
                  <a:srgbClr val="676767"/>
                </a:solidFill>
                <a:latin typeface="Arial"/>
                <a:ea typeface="Arial"/>
                <a:cs typeface="Arial"/>
              </a:rPr>
              <a:t>Carrinho de compras por cliente</a:t>
            </a:r>
          </a:p>
          <a:p xmlns:a="http://schemas.openxmlformats.org/drawingml/2006/main">
            <a:pPr algn="l">
              <a:lnSpc>
                <a:spcPct val="124000"/>
              </a:lnSpc>
              <a:buNone/>
              <a:defRPr sz="1950" b="0">
                <a:solidFill>
                  <a:srgbClr val="676767"/>
                </a:solidFill>
                <a:latin typeface="Arial"/>
                <a:ea typeface="Arial"/>
                <a:cs typeface="Arial"/>
              </a:defRPr>
            </a:pPr>
            <a:r>
              <a:rPr sz="1950" b="0">
                <a:solidFill>
                  <a:srgbClr val="676767"/>
                </a:solidFill>
                <a:latin typeface="Arial"/>
                <a:ea typeface="Arial"/>
                <a:cs typeface="Arial"/>
              </a:rPr>
              <a:t>Usuário autenticado por sessão</a:t>
            </a:r>
          </a:p>
          <a:p xmlns:a="http://schemas.openxmlformats.org/drawingml/2006/main">
            <a:pPr algn="l">
              <a:lnSpc>
                <a:spcPct val="124000"/>
              </a:lnSpc>
              <a:buNone/>
              <a:defRPr sz="1950" b="0">
                <a:solidFill>
                  <a:srgbClr val="676767"/>
                </a:solidFill>
                <a:latin typeface="Arial"/>
                <a:ea typeface="Arial"/>
                <a:cs typeface="Arial"/>
              </a:defRPr>
            </a:pPr>
            <a:r>
              <a:rPr sz="1950" b="0">
                <a:solidFill>
                  <a:srgbClr val="676767"/>
                </a:solidFill>
                <a:latin typeface="Arial"/>
                <a:ea typeface="Arial"/>
                <a:cs typeface="Arial"/>
              </a:rPr>
              <a:t>Testes que precisam isolar o estado</a:t>
            </a:r>
          </a:p>
        </p:txBody>
      </p:sp>
      <p:sp>
        <p:nvSpPr>
          <p:cNvPr id="10" name="final-rule">
            <a:extLst xmlns:a="http://schemas.openxmlformats.org/drawingml/2006/main">
              <a:ext uri="{FF2B5EF4-FFF2-40B4-BE49-F238E27FC236}">
                <a16:creationId xmlns:a16="http://schemas.microsoft.com/office/drawing/2014/main" id="{180CF91A-5FC6-4381-971F-9670DE77EBC3}"/>
              </a:ext>
            </a:extLst>
          </p:cNvPr>
          <p:cNvSpPr>
            <a:spLocks xmlns:a="http://schemas.openxmlformats.org/drawingml/2006/main" noGrp="1"/>
          </p:cNvSpPr>
          <p:nvPr/>
        </p:nvSpPr>
        <p:spPr>
          <a:xfrm xmlns:a="http://schemas.openxmlformats.org/drawingml/2006/main">
            <a:off x="685800" y="5276850"/>
            <a:ext cx="10820400" cy="9525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txBody>
          <a:bodyPr xmlns:a="http://schemas.openxmlformats.org/drawingml/2006/main" wrap="square" lIns="361950" tIns="114300" rIns="361950" bIns="114300" anchor="ctr">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Regra prática: use quando o sistema precisa provar que existe uma única instância compartilhada.</a:t>
            </a:r>
          </a:p>
        </p:txBody>
      </p:sp>
    </p:spTree>
    <p:extLst>
      <p:ext uri="{BB962C8B-B14F-4D97-AF65-F5344CB8AC3E}">
        <p14:creationId xmlns:p14="http://schemas.microsoft.com/office/powerpoint/2010/main" val="2079163123"/>
      </p:ext>
    </p:extLst>
  </p:cSld>
</p:sld>
</file>

<file path=ppt/theme/theme1.xml><?xml version="1.0" encoding="utf-8"?>
<a:theme xmlns:a="http://schemas.openxmlformats.org/drawingml/2006/main" name="ChatGPT">
  <a:themeElements>
    <a:clrScheme name="Singleton Grayscale">
      <a:dk1>
        <a:srgbClr val="191919"/>
      </a:dk1>
      <a:lt1>
        <a:srgbClr val="FFFFFF"/>
      </a:lt1>
      <a:dk2>
        <a:srgbClr val="303030"/>
      </a:dk2>
      <a:lt2>
        <a:srgbClr val="E4E4E4"/>
      </a:lt2>
      <a:accent1>
        <a:srgbClr val="191919"/>
      </a:accent1>
      <a:accent2>
        <a:srgbClr val="676767"/>
      </a:accent2>
      <a:accent3>
        <a:srgbClr val="A5A5A5"/>
      </a:accent3>
      <a:accent4>
        <a:srgbClr val="303030"/>
      </a:accent4>
      <a:accent5>
        <a:srgbClr val="E4E4E4"/>
      </a:accent5>
      <a:accent6>
        <a:srgbClr val="F4F4F4"/>
      </a:accent6>
      <a:hlink>
        <a:srgbClr val="303030"/>
      </a:hlink>
      <a:folHlink>
        <a:srgbClr val="676767"/>
      </a:folHlink>
    </a:clrScheme>
    <a:fontScheme name="Office">
      <a:majorFont>
        <a:latin typeface="Calibri Light"/>
        <a:ea typeface="Calibri Light"/>
        <a:cs typeface="Calibri Light"/>
      </a:majorFont>
      <a:minorFont>
        <a:latin typeface="Calibri"/>
        <a:ea typeface="Calibri"/>
        <a:cs typeface="Calibri"/>
      </a:minorFont>
    </a:fontScheme>
    <a:fmtScheme name="Singleton Graysca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2026-09-15T13:59:02.9720000Z</dcterms:created>
  <dcterms:modified xsi:type="dcterms:W3CDTF">2026-09-15T13:59:02.9720000Z</dcterms:modified>
</coreProperties>
</file>